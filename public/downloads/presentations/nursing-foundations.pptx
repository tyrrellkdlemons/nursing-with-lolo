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1befbb384945f7" /><Relationship Type="http://schemas.openxmlformats.org/officeDocument/2006/relationships/extended-properties" Target="/docProps/app.xml" Id="R0ad409dc90b442e1" /><Relationship Type="http://schemas.openxmlformats.org/officeDocument/2006/relationships/officeDocument" Target="/ppt/presentation.xml" Id="R73b6468232f44c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4b580b449e46cb"/>
  </p:sldMasterIdLst>
  <p:notesMasterIdLst>
    <p:notesMasterId xmlns:r="http://schemas.openxmlformats.org/officeDocument/2006/relationships" r:id="R266d123f63ac45b0"/>
  </p:notesMasterIdLst>
  <p:sldIdLst>
    <p:sldId xmlns:r="http://schemas.openxmlformats.org/officeDocument/2006/relationships" id="256" r:id="R6d9e05cf066b422b"/>
    <p:sldId xmlns:r="http://schemas.openxmlformats.org/officeDocument/2006/relationships" id="257" r:id="R0a0a4e2ead684fc1"/>
    <p:sldId xmlns:r="http://schemas.openxmlformats.org/officeDocument/2006/relationships" id="258" r:id="Reec6f069b3694d2d"/>
    <p:sldId xmlns:r="http://schemas.openxmlformats.org/officeDocument/2006/relationships" id="259" r:id="R6da204fa37e14bc7"/>
    <p:sldId xmlns:r="http://schemas.openxmlformats.org/officeDocument/2006/relationships" id="260" r:id="R9b6832e5b11e4083"/>
    <p:sldId xmlns:r="http://schemas.openxmlformats.org/officeDocument/2006/relationships" id="261" r:id="R0f973cbb1e364d0c"/>
    <p:sldId xmlns:r="http://schemas.openxmlformats.org/officeDocument/2006/relationships" id="262" r:id="Ra67d894bb7054785"/>
    <p:sldId xmlns:r="http://schemas.openxmlformats.org/officeDocument/2006/relationships" id="263" r:id="R83c1977735d84be0"/>
    <p:sldId xmlns:r="http://schemas.openxmlformats.org/officeDocument/2006/relationships" id="264" r:id="Rb7114cab1a8346e0"/>
    <p:sldId xmlns:r="http://schemas.openxmlformats.org/officeDocument/2006/relationships" id="265" r:id="R9d1571b375a34e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64a013a35a4822" /><Relationship Type="http://schemas.openxmlformats.org/officeDocument/2006/relationships/slideMaster" Target="/ppt/slideMasters/slideMaster1.xml" Id="Rf34b580b449e46cb" /><Relationship Type="http://schemas.openxmlformats.org/officeDocument/2006/relationships/notesMaster" Target="/ppt/notesMasters/notesMaster1.xml" Id="R266d123f63ac45b0" /><Relationship Type="http://schemas.openxmlformats.org/officeDocument/2006/relationships/presProps" Target="/ppt/presProps.xml" Id="R5c0096279bd74fda" /><Relationship Type="http://schemas.openxmlformats.org/officeDocument/2006/relationships/tableStyles" Target="/ppt/tableStyles.xml" Id="R332d4a589c3447d8" /><Relationship Type="http://schemas.openxmlformats.org/officeDocument/2006/relationships/slide" Target="/ppt/slides/slide1.xml" Id="R6d9e05cf066b422b" /><Relationship Type="http://schemas.openxmlformats.org/officeDocument/2006/relationships/slide" Target="/ppt/slides/slide2.xml" Id="R0a0a4e2ead684fc1" /><Relationship Type="http://schemas.openxmlformats.org/officeDocument/2006/relationships/slide" Target="/ppt/slides/slide3.xml" Id="Reec6f069b3694d2d" /><Relationship Type="http://schemas.openxmlformats.org/officeDocument/2006/relationships/slide" Target="/ppt/slides/slide4.xml" Id="R6da204fa37e14bc7" /><Relationship Type="http://schemas.openxmlformats.org/officeDocument/2006/relationships/slide" Target="/ppt/slides/slide5.xml" Id="R9b6832e5b11e4083" /><Relationship Type="http://schemas.openxmlformats.org/officeDocument/2006/relationships/slide" Target="/ppt/slides/slide6.xml" Id="R0f973cbb1e364d0c" /><Relationship Type="http://schemas.openxmlformats.org/officeDocument/2006/relationships/slide" Target="/ppt/slides/slide7.xml" Id="Ra67d894bb7054785" /><Relationship Type="http://schemas.openxmlformats.org/officeDocument/2006/relationships/slide" Target="/ppt/slides/slide8.xml" Id="R83c1977735d84be0" /><Relationship Type="http://schemas.openxmlformats.org/officeDocument/2006/relationships/slide" Target="/ppt/slides/slide9.xml" Id="Rb7114cab1a8346e0" /><Relationship Type="http://schemas.openxmlformats.org/officeDocument/2006/relationships/slide" Target="/ppt/slides/slide10.xml" Id="R9d1571b375a34e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073300cde14a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e57adca3744d65" /><Relationship Type="http://schemas.openxmlformats.org/officeDocument/2006/relationships/notesMaster" Target="/ppt/notesMasters/notesMaster1.xml" Id="Ra1071564e8ce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5c490aeef04b16" /><Relationship Type="http://schemas.openxmlformats.org/officeDocument/2006/relationships/notesMaster" Target="/ppt/notesMasters/notesMaster1.xml" Id="Rb6295f719d4e4f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bb48fa7f6c4c14" /><Relationship Type="http://schemas.openxmlformats.org/officeDocument/2006/relationships/notesMaster" Target="/ppt/notesMasters/notesMaster1.xml" Id="Rc2014c7075d0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ad896abb94fd4" /><Relationship Type="http://schemas.openxmlformats.org/officeDocument/2006/relationships/notesMaster" Target="/ppt/notesMasters/notesMaster1.xml" Id="Rb903f3aca2ca42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4cc3e9906942f8" /><Relationship Type="http://schemas.openxmlformats.org/officeDocument/2006/relationships/notesMaster" Target="/ppt/notesMasters/notesMaster1.xml" Id="R53a6ce5a5e2547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f510b69337400c" /><Relationship Type="http://schemas.openxmlformats.org/officeDocument/2006/relationships/notesMaster" Target="/ppt/notesMasters/notesMaster1.xml" Id="R9822f462310840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e5f71640de42ee" /><Relationship Type="http://schemas.openxmlformats.org/officeDocument/2006/relationships/notesMaster" Target="/ppt/notesMasters/notesMaster1.xml" Id="Re3793c1d2d9649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2c6e4e8e1246a2" /><Relationship Type="http://schemas.openxmlformats.org/officeDocument/2006/relationships/notesMaster" Target="/ppt/notesMasters/notesMaster1.xml" Id="R25b6c8024a3043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104da8c1f847c2" /><Relationship Type="http://schemas.openxmlformats.org/officeDocument/2006/relationships/notesMaster" Target="/ppt/notesMasters/notesMaster1.xml" Id="R45511c073add41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50067d128340fb" /><Relationship Type="http://schemas.openxmlformats.org/officeDocument/2006/relationships/notesMaster" Target="/ppt/notesMasters/notesMaster1.xml" Id="Rc9709a889c2141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9a64b9e0a4a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eea4f40f094dd7" /><Relationship Type="http://schemas.openxmlformats.org/officeDocument/2006/relationships/slideLayout" Target="/ppt/slideLayouts/slideLayout1.xml" Id="R6087b938487b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87b938487b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eeb014aab4538" /><Relationship Type="http://schemas.openxmlformats.org/officeDocument/2006/relationships/notesSlide" Target="/ppt/notesSlides/notesSlide1.xml" Id="Rf648e55d0e2a4a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f5d6a5fe84a6c" /><Relationship Type="http://schemas.openxmlformats.org/officeDocument/2006/relationships/notesSlide" Target="/ppt/notesSlides/notesSlide2.xml" Id="R0fca9ae3d6524e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464577e3d49bf" /><Relationship Type="http://schemas.openxmlformats.org/officeDocument/2006/relationships/notesSlide" Target="/ppt/notesSlides/notesSlide3.xml" Id="R3a08a536b36d43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947b0fdcc4825" /><Relationship Type="http://schemas.openxmlformats.org/officeDocument/2006/relationships/notesSlide" Target="/ppt/notesSlides/notesSlide4.xml" Id="R1ac627297dfa46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7ab2cbcb4411b" /><Relationship Type="http://schemas.openxmlformats.org/officeDocument/2006/relationships/notesSlide" Target="/ppt/notesSlides/notesSlide5.xml" Id="Rdfd8c3e8ba1349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cf6cd2cfa45e3" /><Relationship Type="http://schemas.openxmlformats.org/officeDocument/2006/relationships/notesSlide" Target="/ppt/notesSlides/notesSlide6.xml" Id="R57ca4a8095ce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66bbfa81248e4" /><Relationship Type="http://schemas.openxmlformats.org/officeDocument/2006/relationships/notesSlide" Target="/ppt/notesSlides/notesSlide7.xml" Id="Ra1288aad223546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3b54c300a4d28" /><Relationship Type="http://schemas.openxmlformats.org/officeDocument/2006/relationships/notesSlide" Target="/ppt/notesSlides/notesSlide8.xml" Id="Re4b0b154434d4a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6f8648efd419b" /><Relationship Type="http://schemas.openxmlformats.org/officeDocument/2006/relationships/notesSlide" Target="/ppt/notesSlides/notesSlide9.xml" Id="R15e21cc2ea09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65ec3f4eb417a" /><Relationship Type="http://schemas.openxmlformats.org/officeDocument/2006/relationships/notesSlide" Target="/ppt/notesSlides/notesSlide10.xml" Id="Ra39680248a6c48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A9F67C-AA13-44AB-A614-2AB0F728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F1DA4-F593-4D8F-AF24-11D42C9F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C9B5"/>
                </a:solidFill>
              </a:defRPr>
            </a:pPr>
            <a:r>
              <a:rPr sz="1200" b="1">
                <a:solidFill>
                  <a:srgbClr val="26C9B5"/>
                </a:solidFill>
              </a:rPr>
              <a:t>NURSING WITH LOLO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0E29A-92DA-42F5-BBB3-D76CB229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7810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Nursing 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AF49F-3896-4288-BA70-5B144AC1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723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4D6E3"/>
                </a:solidFill>
              </a:defRPr>
            </a:pPr>
            <a:r>
              <a:rPr sz="1725">
                <a:solidFill>
                  <a:srgbClr val="C4D6E3"/>
                </a:solidFill>
              </a:rPr>
              <a:t>ADPIE, safety, communication, delegation, mobility, and essential bedside priorities.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5430D-A74C-4EFD-90E8-ABE1105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1A9BB"/>
                </a:solidFill>
              </a:defRPr>
            </a:pPr>
            <a:r>
              <a:rPr sz="1275" b="1">
                <a:solidFill>
                  <a:srgbClr val="91A9BB"/>
                </a:solidFill>
              </a:rPr>
              <a:t>Simple explanations - nursing priorities - original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00500-779D-4183-9D14-F4E239BF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143000"/>
            <a:ext cx="1762125" cy="1762125"/>
          </a:xfrm>
          <a:prstGeom xmlns:a="http://schemas.openxmlformats.org/drawingml/2006/main" prst="roundRect">
            <a:avLst>
              <a:gd name="adj" fmla="val 12973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B6E0D-9B31-48CF-A73D-D5DFBC7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002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6C9B5"/>
                </a:solidFill>
              </a:defRPr>
            </a:pPr>
            <a:r>
              <a:rPr sz="3600" b="1">
                <a:solidFill>
                  <a:srgbClr val="26C9B5"/>
                </a:solidFill>
              </a:rPr>
              <a:t>LOLO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88B28-3260-44F4-801D-50DECE1C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STUDY EDITION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E576E-E697-45B5-951D-1C73800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29BAD"/>
                </a:solidFill>
              </a:defRPr>
            </a:pPr>
            <a:r>
              <a:rPr sz="825">
                <a:solidFill>
                  <a:srgbClr val="829BAD"/>
                </a:solidFill>
              </a:rPr>
              <a:t>Independent study aid - verify current clinical policy</a:t>
            </a:r>
          </a:p>
        </p:txBody>
      </p:sp>
    </p:spTree>
    <p:extLst>
      <p:ext uri="{BB962C8B-B14F-4D97-AF65-F5344CB8AC3E}">
        <p14:creationId xmlns:p14="http://schemas.microsoft.com/office/powerpoint/2010/main" val="915689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2D354F-8936-4C5F-AFDF-9CF13993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08EBD-AFA2-4C6C-BBB3-CD076CEF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By the end, you can...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FE408-A903-4698-842F-AD063B0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91F43-9A6D-4EE2-91F9-59CAE84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491F8-A3C7-45D0-83A3-10269042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672BD-FC39-417B-B9DD-DB31F44F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84B7E-AAC2-4E97-B864-CE0E5C9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886D8-525A-44CB-BB52-2021BA0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861A3-648E-499B-A048-E6AF7C3D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Connect ADPIE with clinical-judgment steps.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BABCA-F23F-4263-8113-CED592B6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271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A7CC0-4F70-4943-8D08-589ABD49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653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00DE6-7DAF-49F0-BA54-09FBC89C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796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Separate relevant cues from background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AA262-A6DD-4D88-9DE9-8E86C057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329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E45F5-CAD4-43B7-A937-2075560A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71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910EA-688C-43CD-9BF0-C1F32F1D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9854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Choose and evaluate a patient-centered priority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A5C3E-2944-446B-A65A-41E5D1F1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73880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D0663-ED77-4382-80BB-17CF1DD9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770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169BA-0E9D-4B1D-A3C6-126BF2A6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9130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Recognize patient, medication, and environmental fall risks.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CE729-8F01-402E-ADA3-65697F51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4465"/>
            <a:ext cx="10934700" cy="756285"/>
          </a:xfrm>
          <a:prstGeom xmlns:a="http://schemas.openxmlformats.org/drawingml/2006/main" prst="roundRect">
            <a:avLst>
              <a:gd name="adj" fmla="val 15113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C8BCE-3ABE-4325-8154-BA3C8964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82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CDF1F-2540-47D1-AEF5-CF3549F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9715"/>
            <a:ext cx="10210800" cy="603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5324B"/>
                </a:solidFill>
              </a:defRPr>
            </a:pPr>
            <a:r>
              <a:rPr sz="1425">
                <a:solidFill>
                  <a:srgbClr val="15324B"/>
                </a:solidFill>
              </a:rPr>
              <a:t>Select individualized fall-prevention actions.</a:t>
            </a:r>
          </a:p>
        </p:txBody>
      </p:sp>
    </p:spTree>
    <p:extLst>
      <p:ext uri="{BB962C8B-B14F-4D97-AF65-F5344CB8AC3E}">
        <p14:creationId xmlns:p14="http://schemas.microsoft.com/office/powerpoint/2010/main" val="21349015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5A79D0-EBC1-4DD2-A37B-7CD1D9A5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EXPLAIN IT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09777-3F05-4CF7-9ED5-A679B0E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Start with the story that makes the details stick.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87DDA-E091-48A5-80F0-CA5427DB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E2F9E-DC92-40C5-8565-A7EE9E51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BF834-3742-494C-AD37-9D20514C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57B63-E6C6-4831-BD9F-6BDF1B5E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28A32-7D73-4A03-A1ED-889D3E50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2DF60-D48E-453A-9902-CC4E281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94FA2-8604-4878-8E03-CB53A773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ADPIE means assess, diagnose or analyze, plan, implement, and evaluate. The steps guide thinking, but nurses often move back and forth as the patient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B26D-CFF4-4522-AA84-D72210E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0356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2B6BF-CD2F-4C82-B9B2-8FC1C9C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4181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E96EF-1777-4992-840D-28E8DE4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5606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Clinical judgment begins by noticing cues, deciding what they may mean, ranking likely concerns, responding safely, and checking whether the response worked.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692C0-3980-4458-BC9A-B7462F0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38588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EBFDB-975B-40C7-BFB8-12706232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2413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38990-A151-4C04-A3DD-EBE4F75E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3838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The first goal is not to name every possible problem. It is to identify the most urgent, supported concern while continuing to collect useful information.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00F81-3417-433E-9FB5-561EAD63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6819"/>
            <a:ext cx="10934700" cy="973931"/>
          </a:xfrm>
          <a:prstGeom xmlns:a="http://schemas.openxmlformats.org/drawingml/2006/main" prst="roundRect">
            <a:avLst>
              <a:gd name="adj" fmla="val 11736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9525">
            <a:solidFill>
              <a:srgbClr val="DED7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6368F-2675-4E11-9FB8-FEC1B1B3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0644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B72EA"/>
                </a:solidFill>
              </a:defRPr>
            </a:pPr>
            <a:r>
              <a:rPr sz="1050" b="1">
                <a:solidFill>
                  <a:srgbClr val="8B72E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D94E1-3980-497E-ACA0-C216A6FC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2069"/>
            <a:ext cx="10210800" cy="82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Fall risk is not a label that stays the same all day. Illness, new symptoms, medications, toileting needs, and unfamiliar surroundings can change risk quickly.</a:t>
            </a:r>
          </a:p>
        </p:txBody>
      </p:sp>
    </p:spTree>
    <p:extLst>
      <p:ext uri="{BB962C8B-B14F-4D97-AF65-F5344CB8AC3E}">
        <p14:creationId xmlns:p14="http://schemas.microsoft.com/office/powerpoint/2010/main" val="1589463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6F65F3-EA38-437A-B3FB-7D5AD09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FAFEC-4C21-4407-8CC9-60A4D88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Notice the cue, connect the risk, then choose the safest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A4252-C6AB-431D-853C-5C8CFF9F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8BB28-44DD-4615-9615-7C68EF0A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0FA15-1BF1-41E5-BD88-FF189827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4523-3922-453F-BAC4-DC120932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82A9B-7C4A-4EF0-A036-4E727BDA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EE9AB-39E9-4FF1-93FE-0D15A261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43567-5526-4D2D-8848-7CEEDDAB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Address an immediate threat to life or safety 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FF4CF-744B-4CAA-8AE5-5C04B2E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8E300-3A16-4EC3-9F5A-3D1AC25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96A96-8359-4799-9C20-4E606937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52366-CB8B-4CFA-98EC-0063F6F2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If no immediate threat exists, assess before acting and validate uncertain cues.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D4C0E-E4F2-4DCE-8C51-B31E2F32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E1D59-D988-4E5D-B5A5-B164A992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4FBD0-E244-4B0D-83F7-AD5A412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570"/>
                </a:solidFill>
              </a:defRPr>
            </a:pPr>
            <a:r>
              <a:rPr sz="1500" b="1">
                <a:solidFill>
                  <a:srgbClr val="16857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97368-D379-4794-8F11-EAE444F3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Escalate deterioration promptly through the designated chain of communication.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B9A51-6C3C-4740-A653-DA2265C1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D7286"/>
                </a:solidFill>
              </a:defRPr>
            </a:pPr>
            <a:r>
              <a:rPr sz="1950" b="1">
                <a:solidFill>
                  <a:srgbClr val="5D7286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2AA2F-19EE-499C-9EE7-0BDCA5C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CDD8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30D84-5F42-410B-97BE-3DBBE95C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00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56FF2"/>
                </a:solidFill>
              </a:defRPr>
            </a:pPr>
            <a:r>
              <a:rPr sz="150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99BDB-4F2B-42F8-84E3-C47C9DED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24B"/>
                </a:solidFill>
              </a:defRPr>
            </a:pPr>
            <a:r>
              <a:rPr sz="1350" b="1">
                <a:solidFill>
                  <a:srgbClr val="15324B"/>
                </a:solidFill>
              </a:rPr>
              <a:t>Evaluate the response and revise the plan rather than assuming an action worked.</a:t>
            </a:r>
          </a:p>
        </p:txBody>
      </p:sp>
    </p:spTree>
    <p:extLst>
      <p:ext uri="{BB962C8B-B14F-4D97-AF65-F5344CB8AC3E}">
        <p14:creationId xmlns:p14="http://schemas.microsoft.com/office/powerpoint/2010/main" val="1132300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A0001F-192D-4DF5-9177-61497DBF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ASSESSMENT AND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68B8E-95C9-4DC6-8654-BCD3610F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Trend the client, not a single number.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08FE6-DF9F-49C7-A4C5-B58D963F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DC979-9804-4639-9648-43C07EF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C19B-3867-4A80-8F67-97085446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AB9CB-5F03-4E1C-A65B-A6F22FA8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848CE-34D8-415A-841D-900C497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1970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71A4F-639F-472F-9C97-92AECF3C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570"/>
                </a:solidFill>
              </a:defRPr>
            </a:pPr>
            <a:r>
              <a:rPr sz="1125" b="1">
                <a:solidFill>
                  <a:srgbClr val="168570"/>
                </a:solidFill>
              </a:rPr>
              <a:t>WHAT TO NOTICE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D9257-2246-4DF7-8D11-C4F25E2C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23179-E644-4DD9-BECE-E991D124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0CDC4-D666-4798-8340-C0604586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527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Begin with immediate safety and a rapid overview before gathering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00A18-E63B-4965-9C3B-AF10A38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9DF4C-846F-4DEF-99B9-9E51A6A0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31F63-AAA2-491B-A109-2F532CD3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Compare current findings with baseline, trends, expected recovery, and patient concerns.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51F9B-586E-456D-AB27-8675FB71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5A705-49DA-4478-8618-CD7E127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F3782-7CBB-440A-ABCF-EC05F57E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Validate surprising data by checking the patient, technique, equipment, and record.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2FA23-FD30-46CD-B498-E1CCCDD7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8006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A75D2-9B70-4A7A-AFCC-23B27D93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B5D02-3161-4ADE-BDFD-E47840E7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4076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Cluster related subjective and objective cues instead of interpreting one value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AD7D2-44C9-49F9-956A-77CD561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673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B985A-B6F0-4486-A3C5-A7B1E9E4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8455D"/>
                </a:solidFill>
              </a:defRPr>
            </a:pPr>
            <a:r>
              <a:rPr sz="1125" b="1">
                <a:solidFill>
                  <a:srgbClr val="C8455D"/>
                </a:solidFill>
              </a:rPr>
              <a:t>WHAT CAN HARM THE CLIENT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F0CAB-91F6-490F-98D0-57DA253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5B27D-E89C-4A32-AD56-2EBCA89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812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954BC-7284-484C-A36A-D7FC14A0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delay urgent help while trying to complete a full assessment.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54E82-3243-470D-BAAD-CCAD116F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4A477-85D8-4020-B9F5-DDEBF5D9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49F84-DDBE-4EDF-8040-76247C6B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Do not treat a monitor or chart value without checking the patient.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E353F-5723-495A-B292-71805273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71E6E7-019F-433B-AB9E-0678511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95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0CD62-6B26-4841-B9FB-AE9F400D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Use current facility escalation criteria and instructor guidance in clinical settings.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073F8E-FBE3-4DFF-A854-8BB4AB3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14900"/>
            <a:ext cx="504825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A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17CBF6-F201-4E0F-8A03-1B8AC110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387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7C8E"/>
                </a:solidFill>
              </a:defRPr>
            </a:pPr>
            <a:r>
              <a:rPr sz="1050" b="1">
                <a:solidFill>
                  <a:srgbClr val="F17C8E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106322-8698-477D-A391-0B7F8084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4324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5324B"/>
                </a:solidFill>
              </a:defRPr>
            </a:pPr>
            <a:r>
              <a:rPr sz="1200">
                <a:solidFill>
                  <a:srgbClr val="15324B"/>
                </a:solidFill>
              </a:rPr>
              <a:t>Raised side rails, alarms, or signs do not replace observation and individualized care.</a:t>
            </a:r>
          </a:p>
        </p:txBody>
      </p:sp>
    </p:spTree>
    <p:extLst>
      <p:ext uri="{BB962C8B-B14F-4D97-AF65-F5344CB8AC3E}">
        <p14:creationId xmlns:p14="http://schemas.microsoft.com/office/powerpoint/2010/main" val="1643665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B9FDF-E893-4EB2-963E-F518481A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MEMORY THAT TRANSFERS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05C57-775F-4DAE-80CE-8771472F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Use the hook - then return to the clinical why.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B1782-1EF8-45FE-85E6-17E4A9AD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983EA-55A8-47A4-95E5-11182703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4F7D-4733-49EE-A6E4-D2BF7A1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ADPIE: Assess, Decide, Plan, Intervene, Evaluate.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B2B20-B155-45B4-9234-9BCEBC82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398CD-88A7-421D-BC5E-327E78E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D736B-0F48-4E48-B667-FC0EADD2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05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Notice -&gt; Meaning -&gt; Priority -&gt; Action -&gt;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BCF09-7DB4-4770-811B-BD68CA8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13951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09D6D-4275-4B2F-A96D-CF33756D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A7A54-C4C9-4196-A513-A921BDB8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When the picture changes, circle back to assessment.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17F51-0533-4BE1-A024-CB5A14F1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219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3A60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47205-6746-4D33-950D-B5590B70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6C9B5"/>
                </a:solidFill>
              </a:defRPr>
            </a:pPr>
            <a:r>
              <a:rPr sz="3300" b="1">
                <a:solidFill>
                  <a:srgbClr val="26C9B5"/>
                </a:solidFill>
              </a:rPr>
              <a:t>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69C57-EF33-4253-8DA1-FCE2D02C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57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SAFE: Scan risk, Arrange the room, Furnish help, Evaluate again.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A5495-0D85-466F-91D1-79DFB487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FA7B8"/>
                </a:solidFill>
              </a:defRPr>
            </a:pPr>
            <a:r>
              <a:rPr sz="825">
                <a:solidFill>
                  <a:srgbClr val="8FA7B8"/>
                </a:solidFill>
              </a:rPr>
              <a:t>Memory aids support recall; current clinical references and policy guide care.</a:t>
            </a:r>
          </a:p>
        </p:txBody>
      </p:sp>
    </p:spTree>
    <p:extLst>
      <p:ext uri="{BB962C8B-B14F-4D97-AF65-F5344CB8AC3E}">
        <p14:creationId xmlns:p14="http://schemas.microsoft.com/office/powerpoint/2010/main" val="1536719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9138A-FA5A-4C95-B1CD-18DBFE7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CLINICAL JUDGMENT CHECKPOINT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04126-D8C9-4633-97F8-2ACC69CA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A changing client turns facts into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41D5B-F0FF-4496-AE00-3601C3E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9B778-0594-4FFE-9366-CAC0A077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53BEA-0314-408B-BE52-755801F8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81A73-517F-423C-8061-7583106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9E3BB-3743-4363-96DE-8FC20E2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10934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17DC6-1420-46DE-B3B5-151C5FD1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A patient who was speaking comfortably becomes restless and says breathing suddenly feels harder.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E5B5E-90FE-442D-8BB6-0DE04F3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6C9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6B35B-7238-4DFE-A820-44953BFB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C9B5"/>
                </a:solidFill>
              </a:defRPr>
            </a:pPr>
            <a:r>
              <a:rPr sz="1125" b="1">
                <a:solidFill>
                  <a:srgbClr val="26C9B5"/>
                </a:solidFill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0AAA6-E972-4441-A4F4-85204CB1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New restlessness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Sudden breathing complaint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Change from the recent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28E84-0308-4E18-87EB-57096DEE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F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6884B-A889-4789-A875-B548487D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6FF2"/>
                </a:solidFill>
              </a:defRPr>
            </a:pPr>
            <a:r>
              <a:rPr sz="1125" b="1">
                <a:solidFill>
                  <a:srgbClr val="456FF2"/>
                </a:solidFill>
              </a:rPr>
              <a:t>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9A6BB-6F0F-4561-A5BD-CCB2423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Possible acute oxygenation or ventilation problem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Immediate bedside assessment is needed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FD84A-A4FE-4A4F-A342-BF50B59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33909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17C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A69A1-9208-41C3-A4C9-C17F28FA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14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7C8E"/>
                </a:solidFill>
              </a:defRPr>
            </a:pPr>
            <a:r>
              <a:rPr sz="1125" b="1">
                <a:solidFill>
                  <a:srgbClr val="F17C8E"/>
                </a:solidFill>
              </a:rPr>
              <a:t>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06FCE-4715-4AF5-8978-8708B624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00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Stay with the patient and assess airway, breathing, circulation, and current vital signs.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Use the facility escalation pathway while providing in-scope supportive care.</a:t>
            </a:r>
          </a:p>
          <a:p xmlns:a="http://schemas.openxmlformats.org/drawingml/2006/main">
            <a:pPr>
              <a:defRPr sz="1200">
                <a:solidFill>
                  <a:srgbClr val="5D7286"/>
                </a:solidFill>
              </a:defRPr>
            </a:pPr>
            <a:r>
              <a:rPr sz="1200">
                <a:solidFill>
                  <a:srgbClr val="5D7286"/>
                </a:solidFill>
              </a:rPr>
              <a:t>• Reassess continuously and communicate the change and response clearly.</a:t>
            </a:r>
          </a:p>
        </p:txBody>
      </p:sp>
    </p:spTree>
    <p:extLst>
      <p:ext uri="{BB962C8B-B14F-4D97-AF65-F5344CB8AC3E}">
        <p14:creationId xmlns:p14="http://schemas.microsoft.com/office/powerpoint/2010/main" val="247978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CA0C9-F790-4362-94D5-BD2C9520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PRACTICE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B54C5-B939-4588-84EA-6B111BD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Choose before you look at the rationale.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74F78-0686-4DE6-941C-63E276CF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9C73F-9477-42AD-A147-71840AF3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0BC1D-C058-4A0D-A00E-B14DEBA0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0F7A1-0EEA-42B9-BB23-8E512DE6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F9EBC-8594-41D4-B49A-928FE2D0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24B"/>
                </a:solidFill>
              </a:defRPr>
            </a:pPr>
            <a:r>
              <a:rPr sz="1875" b="1">
                <a:solidFill>
                  <a:srgbClr val="15324B"/>
                </a:solidFill>
              </a:rPr>
              <a:t>A previously comfortable patient suddenly reports difficulty breathing. What should the nurse do first?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7695F-697A-4C34-A78B-B7E79074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1C65F-1DC5-4290-854B-74E949E4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F2974-6AD1-46B4-82B7-3ED8E47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Perform a rapid bedside airway and breathing assessment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90859-E8B4-4F3C-91C1-7A1ACDF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08F7F-0BD4-4D8C-A57D-EF7BA28C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4CB14-7823-4FA3-9BBA-A70A95D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81350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Finish routine documentation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80D4A-E7DE-4B97-9C48-001484F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27A06-6846-445F-9F39-394FA3ED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9FFED-075D-4D2F-AFDF-BA4423F2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Ask dietary services to hold the tray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3C36A-DF2E-445C-9DAF-77B89DB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2197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CE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5A9EF-EC03-4F1E-BF7F-8AF922C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56FF2"/>
                </a:solidFill>
              </a:defRPr>
            </a:pPr>
            <a:r>
              <a:rPr sz="1650" b="1">
                <a:solidFill>
                  <a:srgbClr val="456FF2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1D536-CEBB-4510-ABD4-7C0602E6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719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5324B"/>
                </a:solidFill>
              </a:defRPr>
            </a:pPr>
            <a:r>
              <a:rPr sz="1350">
                <a:solidFill>
                  <a:srgbClr val="15324B"/>
                </a:solidFill>
              </a:rPr>
              <a:t>Wait for the next scheduled vital signs</a:t>
            </a:r>
          </a:p>
        </p:txBody>
      </p:sp>
    </p:spTree>
    <p:extLst>
      <p:ext uri="{BB962C8B-B14F-4D97-AF65-F5344CB8AC3E}">
        <p14:creationId xmlns:p14="http://schemas.microsoft.com/office/powerpoint/2010/main" val="1618341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89B873-F073-4BC6-9AC9-404B9D5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ANSWER AND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33B7F-410D-47BC-BF62-D99D06D8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C33"/>
                </a:solidFill>
              </a:defRPr>
            </a:pPr>
            <a:r>
              <a:rPr sz="2850" b="1">
                <a:solidFill>
                  <a:srgbClr val="071C33"/>
                </a:solidFill>
              </a:rPr>
              <a:t>The answer is A. Now make the reasoning reusable.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1ECC2-0C00-4A96-8E1B-793DE2E2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C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55EC3-1DE4-4B4A-9F15-D1E3191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3F2C-F0C2-497F-8D00-64E3BAC0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NURSING with LOLO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11948-FEBC-4764-A60D-99B3A99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341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286"/>
                </a:solidFill>
              </a:defRPr>
            </a:pPr>
            <a:r>
              <a:rPr sz="825" b="1">
                <a:solidFill>
                  <a:srgbClr val="5D728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B1525-DFD3-448B-957E-07A5498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9347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DF9F7"/>
          </a:solidFill>
          <a:ln xmlns:a="http://schemas.openxmlformats.org/drawingml/2006/main" w="9525">
            <a:solidFill>
              <a:srgbClr val="C7EA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06A92-BD27-4051-9D40-0F9D5004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 sudden breathing change may be unstable, so rapid assessment and timely escalation take priority.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C01C73-4831-4462-BC7F-F44FF23F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238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4DD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ED78D-F427-42E2-BA0E-BDB7676E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56FF2"/>
                </a:solidFill>
              </a:defRPr>
            </a:pPr>
            <a:r>
              <a:rPr sz="1050" b="1">
                <a:solidFill>
                  <a:srgbClr val="456FF2"/>
                </a:solidFill>
              </a:rPr>
              <a:t>PRIORITY CONCEPT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C1C23-BECC-4661-92B5-00325C61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324B"/>
                </a:solidFill>
              </a:defRPr>
            </a:pPr>
            <a:r>
              <a:rPr sz="1650" b="1">
                <a:solidFill>
                  <a:srgbClr val="15324B"/>
                </a:solidFill>
              </a:rPr>
              <a:t>Acute change and breathing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1961F-B023-4F31-BB54-201744D2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5467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5D8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CB129-F1CA-4EF7-AC1F-BED1C214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43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76513"/>
                </a:solidFill>
              </a:defRPr>
            </a:pPr>
            <a:r>
              <a:rPr sz="1050" b="1">
                <a:solidFill>
                  <a:srgbClr val="A76513"/>
                </a:solidFill>
              </a:rPr>
              <a:t>TEST-TAKING CLUE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271FE-5194-43F6-A5AB-E1F0B427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14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324B"/>
                </a:solidFill>
              </a:defRPr>
            </a:pPr>
            <a:r>
              <a:rPr sz="1425" b="1">
                <a:solidFill>
                  <a:srgbClr val="15324B"/>
                </a:solidFill>
              </a:rPr>
              <a:t>The word "suddenly" signals a new priority cue.</a:t>
            </a:r>
          </a:p>
        </p:txBody>
      </p:sp>
    </p:spTree>
    <p:extLst>
      <p:ext uri="{BB962C8B-B14F-4D97-AF65-F5344CB8AC3E}">
        <p14:creationId xmlns:p14="http://schemas.microsoft.com/office/powerpoint/2010/main" val="1974198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C7A035-CDB7-4396-AF43-7D3AA6CB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TAKE IT WITH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488FC-214B-48F4-8DD7-E7B8F21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things worth remembering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41B92-11E7-42AB-B509-DD943529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4E06B-B81A-48A6-A214-533EB7B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02EEC-8B13-4458-B372-6811DC1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5737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Use ADPIE as a flexible cycle rather than a rigid checklist.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8DA7B-F9EE-47EC-8CB0-7C565C7D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649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6D7D7-64B8-4A52-988B-3B1C9AF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032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12390-5675-4080-9372-2348F93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174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Prioritize supported cues, urgent threats, and changes from baseline.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F85B7-D7A7-490D-8DFA-EF1C6E70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086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E4B88-AA39-4444-9E0E-5C659115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469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A0150-1ACF-4250-B8C9-57786A09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611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An intervention is incomplete until the patient's response is evaluated.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964D1-5F22-4F0F-90D1-CDCE4753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523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FDF53-AB93-44B4-9E65-31DF59B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906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614F7-6F36-4B4E-B197-E38CBC48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048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Fall risk is dynamic and must be reassessed after relevant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F0254-460A-469E-8B2C-790CFDF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9605"/>
            <a:ext cx="10934700" cy="588645"/>
          </a:xfrm>
          <a:prstGeom xmlns:a="http://schemas.openxmlformats.org/drawingml/2006/main" prst="roundRect">
            <a:avLst>
              <a:gd name="adj" fmla="val 19417"/>
            </a:avLst>
          </a:prstGeom>
          <a:solidFill xmlns:a="http://schemas.openxmlformats.org/drawingml/2006/main">
            <a:srgbClr val="123B62"/>
          </a:solidFill>
          <a:ln xmlns:a="http://schemas.openxmlformats.org/drawingml/2006/main" w="9525">
            <a:solidFill>
              <a:srgbClr val="2A567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FB99D-2E35-4480-8D5E-90F514EA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343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6C9B5"/>
                </a:solidFill>
              </a:defRPr>
            </a:pPr>
            <a:r>
              <a:rPr sz="1050" b="1">
                <a:solidFill>
                  <a:srgbClr val="26C9B5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8A964-367B-4AA7-A431-C8AA5465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4855"/>
            <a:ext cx="102108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Individualized assistance, environment, communication, and toileting plans work together.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27854-D256-4891-934B-6703C73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FC3D1"/>
                </a:solidFill>
              </a:defRPr>
            </a:pPr>
            <a:r>
              <a:rPr sz="1050">
                <a:solidFill>
                  <a:srgbClr val="AFC3D1"/>
                </a:solidFill>
              </a:rPr>
              <a:t>Reviewed 2026-07-13. Independent educational study aid. Verify current clinical references, instructor direction, scope, orders, manufacturer instructions, and facility policy.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32C9A-C09A-4AB2-AAA6-B243B4DB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F99AB"/>
                </a:solidFill>
              </a:defRPr>
            </a:pPr>
            <a:r>
              <a:rPr sz="750">
                <a:solidFill>
                  <a:srgbClr val="7F99AB"/>
                </a:solidFill>
              </a:rPr>
              <a:t>National Council of State Boards of Nursing: 2026 NCLEX-PN Test Plan | Agency for Healthcare Research and Quality: TeamSTEPPS Tools | Agency for Healthcare Research and Quality: Pressure Injury Prevention in Hospitals Training Program</a:t>
            </a:r>
          </a:p>
        </p:txBody>
      </p:sp>
    </p:spTree>
    <p:extLst>
      <p:ext uri="{BB962C8B-B14F-4D97-AF65-F5344CB8AC3E}">
        <p14:creationId xmlns:p14="http://schemas.microsoft.com/office/powerpoint/2010/main" val="83793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2026-07-13T19:10:31.6510000Z</dcterms:created>
  <dcterms:modified xsi:type="dcterms:W3CDTF">2026-07-13T19:10:31.6510000Z</dcterms:modified>
</coreProperties>
</file>