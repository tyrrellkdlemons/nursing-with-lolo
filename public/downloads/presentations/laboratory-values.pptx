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3db284c6342b5" /><Relationship Type="http://schemas.openxmlformats.org/officeDocument/2006/relationships/extended-properties" Target="/docProps/app.xml" Id="R7052761b33c74979" /><Relationship Type="http://schemas.openxmlformats.org/officeDocument/2006/relationships/officeDocument" Target="/ppt/presentation.xml" Id="R571d1650b89740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7be9030ad48e3"/>
  </p:sldMasterIdLst>
  <p:notesMasterIdLst>
    <p:notesMasterId xmlns:r="http://schemas.openxmlformats.org/officeDocument/2006/relationships" r:id="R6fb11243b7674100"/>
  </p:notesMasterIdLst>
  <p:sldIdLst>
    <p:sldId xmlns:r="http://schemas.openxmlformats.org/officeDocument/2006/relationships" id="256" r:id="R1c39c4978ee64182"/>
    <p:sldId xmlns:r="http://schemas.openxmlformats.org/officeDocument/2006/relationships" id="257" r:id="Rac110dca213243a9"/>
    <p:sldId xmlns:r="http://schemas.openxmlformats.org/officeDocument/2006/relationships" id="258" r:id="R2466df44381741e4"/>
    <p:sldId xmlns:r="http://schemas.openxmlformats.org/officeDocument/2006/relationships" id="259" r:id="Rfd311df37e8547d3"/>
    <p:sldId xmlns:r="http://schemas.openxmlformats.org/officeDocument/2006/relationships" id="260" r:id="R3846f1853edf49b4"/>
    <p:sldId xmlns:r="http://schemas.openxmlformats.org/officeDocument/2006/relationships" id="261" r:id="Re34790070c2147c1"/>
    <p:sldId xmlns:r="http://schemas.openxmlformats.org/officeDocument/2006/relationships" id="262" r:id="R6f3255f5b7a1469f"/>
    <p:sldId xmlns:r="http://schemas.openxmlformats.org/officeDocument/2006/relationships" id="263" r:id="Rff36e264bc9046ad"/>
    <p:sldId xmlns:r="http://schemas.openxmlformats.org/officeDocument/2006/relationships" id="264" r:id="Ref58c3d86cb046db"/>
    <p:sldId xmlns:r="http://schemas.openxmlformats.org/officeDocument/2006/relationships" id="265" r:id="Ra2963940db9141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937ca2e20b4d47" /><Relationship Type="http://schemas.openxmlformats.org/officeDocument/2006/relationships/slideMaster" Target="/ppt/slideMasters/slideMaster1.xml" Id="R7b47be9030ad48e3" /><Relationship Type="http://schemas.openxmlformats.org/officeDocument/2006/relationships/notesMaster" Target="/ppt/notesMasters/notesMaster1.xml" Id="R6fb11243b7674100" /><Relationship Type="http://schemas.openxmlformats.org/officeDocument/2006/relationships/presProps" Target="/ppt/presProps.xml" Id="Re099569dfb824dce" /><Relationship Type="http://schemas.openxmlformats.org/officeDocument/2006/relationships/tableStyles" Target="/ppt/tableStyles.xml" Id="R62890e1eafd74c8a" /><Relationship Type="http://schemas.openxmlformats.org/officeDocument/2006/relationships/slide" Target="/ppt/slides/slide1.xml" Id="R1c39c4978ee64182" /><Relationship Type="http://schemas.openxmlformats.org/officeDocument/2006/relationships/slide" Target="/ppt/slides/slide2.xml" Id="Rac110dca213243a9" /><Relationship Type="http://schemas.openxmlformats.org/officeDocument/2006/relationships/slide" Target="/ppt/slides/slide3.xml" Id="R2466df44381741e4" /><Relationship Type="http://schemas.openxmlformats.org/officeDocument/2006/relationships/slide" Target="/ppt/slides/slide4.xml" Id="Rfd311df37e8547d3" /><Relationship Type="http://schemas.openxmlformats.org/officeDocument/2006/relationships/slide" Target="/ppt/slides/slide5.xml" Id="R3846f1853edf49b4" /><Relationship Type="http://schemas.openxmlformats.org/officeDocument/2006/relationships/slide" Target="/ppt/slides/slide6.xml" Id="Re34790070c2147c1" /><Relationship Type="http://schemas.openxmlformats.org/officeDocument/2006/relationships/slide" Target="/ppt/slides/slide7.xml" Id="R6f3255f5b7a1469f" /><Relationship Type="http://schemas.openxmlformats.org/officeDocument/2006/relationships/slide" Target="/ppt/slides/slide8.xml" Id="Rff36e264bc9046ad" /><Relationship Type="http://schemas.openxmlformats.org/officeDocument/2006/relationships/slide" Target="/ppt/slides/slide9.xml" Id="Ref58c3d86cb046db" /><Relationship Type="http://schemas.openxmlformats.org/officeDocument/2006/relationships/slide" Target="/ppt/slides/slide10.xml" Id="Ra2963940db91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eef5120d2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f30de99e946d2" /><Relationship Type="http://schemas.openxmlformats.org/officeDocument/2006/relationships/notesMaster" Target="/ppt/notesMasters/notesMaster1.xml" Id="Rd19b06e0867544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df884251043fe" /><Relationship Type="http://schemas.openxmlformats.org/officeDocument/2006/relationships/notesMaster" Target="/ppt/notesMasters/notesMaster1.xml" Id="R6d2d35f2b63b46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08f667241245f1" /><Relationship Type="http://schemas.openxmlformats.org/officeDocument/2006/relationships/notesMaster" Target="/ppt/notesMasters/notesMaster1.xml" Id="Reb57d99e16d9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60dd0683d84e2c" /><Relationship Type="http://schemas.openxmlformats.org/officeDocument/2006/relationships/notesMaster" Target="/ppt/notesMasters/notesMaster1.xml" Id="Rc43cdd2f1f42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7fc8cc225d4a39" /><Relationship Type="http://schemas.openxmlformats.org/officeDocument/2006/relationships/notesMaster" Target="/ppt/notesMasters/notesMaster1.xml" Id="R50414455abc3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5d5fca9f440b3" /><Relationship Type="http://schemas.openxmlformats.org/officeDocument/2006/relationships/notesMaster" Target="/ppt/notesMasters/notesMaster1.xml" Id="R6637a7021a0d49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ed64a9f3d3415a" /><Relationship Type="http://schemas.openxmlformats.org/officeDocument/2006/relationships/notesMaster" Target="/ppt/notesMasters/notesMaster1.xml" Id="R0b1b5fce78f9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64ba3e267c40ef" /><Relationship Type="http://schemas.openxmlformats.org/officeDocument/2006/relationships/notesMaster" Target="/ppt/notesMasters/notesMaster1.xml" Id="R2dea3e43de9e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df30272df041d5" /><Relationship Type="http://schemas.openxmlformats.org/officeDocument/2006/relationships/notesMaster" Target="/ppt/notesMasters/notesMaster1.xml" Id="R136d1228597942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f6d751ca6648ea" /><Relationship Type="http://schemas.openxmlformats.org/officeDocument/2006/relationships/notesMaster" Target="/ppt/notesMasters/notesMaster1.xml" Id="Rf5ecf31ca2f94f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7afe2d7e3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a56a2cf454545" /><Relationship Type="http://schemas.openxmlformats.org/officeDocument/2006/relationships/slideLayout" Target="/ppt/slideLayouts/slideLayout1.xml" Id="R945c47c892ad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c47c892ad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e7133e1e4fe6" /><Relationship Type="http://schemas.openxmlformats.org/officeDocument/2006/relationships/notesSlide" Target="/ppt/notesSlides/notesSlide1.xml" Id="Rafb8c54dcd43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cde5de906412e" /><Relationship Type="http://schemas.openxmlformats.org/officeDocument/2006/relationships/notesSlide" Target="/ppt/notesSlides/notesSlide2.xml" Id="Re0f319c1c1414c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3ae125a334b8c" /><Relationship Type="http://schemas.openxmlformats.org/officeDocument/2006/relationships/notesSlide" Target="/ppt/notesSlides/notesSlide3.xml" Id="R41f9a803088f42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76b9493ac4009" /><Relationship Type="http://schemas.openxmlformats.org/officeDocument/2006/relationships/notesSlide" Target="/ppt/notesSlides/notesSlide4.xml" Id="R54d07455b31d44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5e97dd5f94874" /><Relationship Type="http://schemas.openxmlformats.org/officeDocument/2006/relationships/notesSlide" Target="/ppt/notesSlides/notesSlide5.xml" Id="Rbb2725ebc56441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01e094bca49b5" /><Relationship Type="http://schemas.openxmlformats.org/officeDocument/2006/relationships/notesSlide" Target="/ppt/notesSlides/notesSlide6.xml" Id="R4aeb2dcbeec443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20344889e4823" /><Relationship Type="http://schemas.openxmlformats.org/officeDocument/2006/relationships/notesSlide" Target="/ppt/notesSlides/notesSlide7.xml" Id="Rce71f9b77a894f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471657e2b415d" /><Relationship Type="http://schemas.openxmlformats.org/officeDocument/2006/relationships/notesSlide" Target="/ppt/notesSlides/notesSlide8.xml" Id="Re6728249beeb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7bbf9282d4f1a" /><Relationship Type="http://schemas.openxmlformats.org/officeDocument/2006/relationships/notesSlide" Target="/ppt/notesSlides/notesSlide9.xml" Id="R01324346e39b48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5de8440fb4881" /><Relationship Type="http://schemas.openxmlformats.org/officeDocument/2006/relationships/notesSlide" Target="/ppt/notesSlides/notesSlide10.xml" Id="R6cbeb00d3d24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089F5-34B8-408D-AD78-73CD8C9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18864-AE93-485D-8EF7-DB9561C9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DDA0A-3570-4A83-B29D-338CD073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Laboratory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94FFA-B75C-41F5-95E4-93E6444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Trend-based review of CBC, chemistry, electrolytes, renal clues, and critical communication.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C824B-CDA9-4EE3-A423-E1F89F64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34E72-E9C0-4234-89B1-7B181926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AB633-A2AF-4B89-9FA8-5A181BC0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15E30-5FDF-4E52-A85D-8E8EF9AE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B4AC4-AD68-46F6-A4BD-0EA9AB0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342059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4EE7A7-E674-40D9-AE1E-719C670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C53F5-8EDF-4021-95BD-F9B1262B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3509B-EADE-4E26-A3CC-DBD5BF0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0295D-AE34-43F3-8212-D5FD3296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BF490-FE4B-4606-92F4-B4F5A009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D0326-50E7-475F-81C9-5F03FEC9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C9A90-7846-4059-82BE-06EDDF9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3A1A7-6EB9-4EBD-BBEE-D02C28B6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04456-E721-4E4E-AB43-5CA5C73E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Compare findings of fluid-volume deficit and excess.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7A7F1-1A02-445C-8BC1-493DC36D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52112-8D3F-4EBE-9EC4-0126CA18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D53C8-EFE4-4ECA-B7D1-7613805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Connect sodium, potassium, magnesium, and calcium changes with priority assessments.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29BF6-7B00-4D6E-A048-4BD88750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69D4-D12C-4658-9C9B-3070A8BF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5B078-514B-4007-AD45-D2B6DFEC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findings requiring cardiac, neurologic, or respiratory escalation.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63D20-F7C3-4D4C-80C8-FC6B65C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519A3-EFF2-4CB3-966A-5EDA111B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D6637-6768-4925-9807-C1600BBC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safe monitoring principles for ordered fluid and electrolyte therapy.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EF55D-569F-44E4-9C90-34A203A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9E282-4335-45F6-9407-5BC38326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45C3E-5DAE-4537-9A30-496D8B85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a consistent sequence to interpret pH, carbon dioxide, and bicarbonate.</a:t>
            </a:r>
          </a:p>
        </p:txBody>
      </p:sp>
    </p:spTree>
    <p:extLst>
      <p:ext uri="{BB962C8B-B14F-4D97-AF65-F5344CB8AC3E}">
        <p14:creationId xmlns:p14="http://schemas.microsoft.com/office/powerpoint/2010/main" val="818347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9760C-FC9C-4171-AE76-3E6E7AD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47976-D607-4038-9104-3CDE6A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F3872-0D9A-43FF-B832-B44720A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EC1E0-E24B-481A-A780-21444F71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7610A-0039-436E-8E32-B270E37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41C31-C9F6-418E-9F2C-A7A362D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ABAD5-A181-4EA6-9846-D0DC88BE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3E6B2-7095-42F9-A1C2-6B0DB2C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74F82-D5A9-4024-8499-4EAD2CC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Water moves between body spaces, while electrolytes help control nerves, muscles, rhythm, and fluid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ECB28-4675-431E-BB0E-20B2E91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0ADC1-BE94-4A20-A404-7AEA076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546C5-03EF-4F8C-BC9E-ED59C69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Sodium problems often show in the brain because sodium strongly affects water balance.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F7CC6-7D32-451A-866C-46D8198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3AECC-0806-497A-9E07-C35FF734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F650B-1164-4F9B-A965-A88C7CD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Potassium problems often show in muscles and the heart because potassium affects electrical activity.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FD875-3FF4-4976-9D59-0E650F9F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DC25D-AC61-42C3-9B82-D7D5C6F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8401E-CD3F-4B35-A7DE-55427BD3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 laboratory value never stands alone: symptoms, speed of change, kidney function, medicines, and the collection method all matter.</a:t>
            </a:r>
          </a:p>
        </p:txBody>
      </p:sp>
    </p:spTree>
    <p:extLst>
      <p:ext uri="{BB962C8B-B14F-4D97-AF65-F5344CB8AC3E}">
        <p14:creationId xmlns:p14="http://schemas.microsoft.com/office/powerpoint/2010/main" val="1023635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F0A159-ED9B-4ED7-A018-0A9877DA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9EFD7-3518-4F00-882B-3DC7C2A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90D0E-51EB-49B7-A484-A92D4A63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99425-44EE-44EC-934A-2CA30C3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0C995-BEBC-41AC-A49A-A448634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23437-2EE5-4361-9CF0-A2660AC5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5054E-266A-45C9-9F0E-FE1A1E81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F04DD-099F-4161-AF93-AF12B9C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747BE-D391-4728-A717-B43FF9EE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seizure, severe confusion, dangerous rhythm, marked weakness, or respiratory compromise, activate urgent response.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0BA78-5D93-4C27-9998-522A18B6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F3D2-ED41-499E-99FF-3CFB0DD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AC299-7181-4107-9975-115697F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0A4A8-354A-4412-A045-A57038D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Stop and verify an infusion when the solution, route, rate, access, or patient response is concerning.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61743-88FB-437B-902D-78B4C5C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96C8C-B2F0-45D0-BC34-F8CD6BA5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75BCB-D0C1-4CE8-9D29-0DA5814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E98F5-D966-4E9F-83FC-2FCD057A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Report critical results according to policy and read back required information.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EB609-E7D2-4036-B859-AB8F25E5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17F5D-49D2-426B-BACB-0A76F2D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06F02-2E51-4D80-81C5-6B69C6EF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818F1-50A6-4051-9CFA-6FDB6D0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Question an unexpected result and assess for specimen problems without dismissing possible illness.</a:t>
            </a:r>
          </a:p>
        </p:txBody>
      </p:sp>
    </p:spTree>
    <p:extLst>
      <p:ext uri="{BB962C8B-B14F-4D97-AF65-F5344CB8AC3E}">
        <p14:creationId xmlns:p14="http://schemas.microsoft.com/office/powerpoint/2010/main" val="371444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FCCC5-8A0B-4E56-A70A-E4B096D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9426-8ED9-4D09-A753-9E73A539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057F6-C8B3-4FED-BC8D-CE748F70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3E0A9-FE53-48C4-AF41-67631C9F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C1E68-5416-4772-9CAF-7B8F6C2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EA2DB-CE55-4961-AFAE-67FDABE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62139-7884-405A-B18F-861B95F9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81857-6283-48FF-AE17-A87E9C0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E5061-D02C-41F7-9D04-CAA8334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E3047-306E-4CD9-8338-22D98B4C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78155-D863-4023-8360-81A055B8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Trend weight, intake/output, vital signs, orthostatic symptoms, perfusion, edema, and lung sounds.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BBCA7-4AE7-49C8-BB9F-24FCF9B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64342-CE24-4937-9ED8-5CBD2A8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4B46F-8729-4E1B-A570-0E739BA4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Assess alertness, headache, seizure risk, strength, reflexes, cramps, and sensation.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1228E-6A77-4B28-B4B6-BD9AFA8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E645E-8DAA-4494-9172-299D7A64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3D968-B2F7-469B-B428-5B8803E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Review the electrolyte trend, kidney function, glucose, acid-base data, and collection quality.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2ED55-8934-456F-BAC1-2DB34D9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31DCC-9D49-42EC-AF73-C7058AE0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A16B3-5FF9-473E-A79D-117611C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Review medicines, IV fluids, losses, nutrition, and recent procedures.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C13FE-D3E6-4B64-A7C5-A830034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6BE84-0949-486F-93AD-57B49BA8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677C4-F9DC-4ADC-A276-4106F74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50F60-630E-4D29-946E-D97A421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4D739-C387-4ED7-AFE5-5E8BE98B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give potassium by IV push, bolus, or direct injection; IV potassium must be diluted and infused with prescribed pump and monitoring safeguards.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FC7228-CF12-45A2-B13B-39447005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8C53D-A205-437F-839E-1ECD774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B05B99-001E-4573-9B30-273776A8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Rapid correction of some sodium disorders can cause severe neurologic harm.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26C23-27B7-4B72-98B7-625FC30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5F4CB-7C1E-464F-9D4E-26289BE0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6D3118-14FF-4E09-B714-54067F6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Fluid boluses or restriction can be harmful when applied without individualized assessment and orders.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92A77-191A-48A0-A9B8-977BD90E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57ACC-8CDE-4221-ABDF-D44F966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690DC-75B3-4C66-BF9D-8CEDB40E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dismiss a critical result solely because the patient has few symptoms.</a:t>
            </a:r>
          </a:p>
        </p:txBody>
      </p:sp>
    </p:spTree>
    <p:extLst>
      <p:ext uri="{BB962C8B-B14F-4D97-AF65-F5344CB8AC3E}">
        <p14:creationId xmlns:p14="http://schemas.microsoft.com/office/powerpoint/2010/main" val="392968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2A044-580E-42FC-8383-E082E263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CAE9E-CA02-4AE9-B190-71DF499E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CCDF6-A780-4E5D-87C9-BB78793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CBFB3-1BA0-4C21-84DE-20EEBE00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3A6FD-BA8B-41E3-9D43-B821794D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Sodium: think water and brain.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ED08B-ACD8-47AF-81A9-AB43CFB6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9CBB4-9900-46D4-AC73-16845A1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15E01-A3D9-4544-A674-AA1B560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Potassium: think power for muscle and cardiac electricity.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2A8AB-BBD5-4B64-9FAD-7E0DCF07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B2E84-219D-4685-B848-0B17188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80459-A6DB-4002-B4DA-8FB2EA23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Volume trend: weight, output, pressure, pulse, lungs, and person.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1AF5B-C81C-4B64-A974-E95897CA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B8ABE-BDFE-4868-9485-FC1D3DD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DACB7-A905-4A77-9649-7EB1AC1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Respiratory opposite: pH and CO2 move opposite in the primary disorder.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DE37B-5802-4CD3-952D-6272D1E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119373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29FB5F-22FA-4961-AF42-CA8913E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B3BA8-1707-4550-B9FE-23F52010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5A563-59B6-442B-8995-578DA27D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86902-DEEB-4D75-A412-3347ADA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493CF-85F9-4D4C-87EA-B87FE8CC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37758-F46B-4E73-A2E8-49BAFEA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693F-F0AD-4202-8944-C26CFBA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25A67-2187-4BB8-B3C9-F951270F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patient receiving IV fluid develops new crackles and breathlessness. Weight has increased, urine output is falling, and the infusion is still running.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9CE32-0033-4754-B5F4-AF0BE717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A9E53-FEAB-498D-8747-C141BAA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0F314-BB03-4DD2-8892-5CB3350B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respiratory symptoms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Crackles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Weight 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FCC50-4874-4337-9115-2E71B43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8109F-1A5B-49A4-957C-62395DF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791D5-FA8E-4505-B6B0-852CC66B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patient may no longer tolerate the current fluid plan.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Continuing without reassessment could worsen fluid excess.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199B9-D635-4709-ACD7-AB9D499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5CABA-5CFB-4105-A33E-203BF48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562DA-98BD-4FC4-94F1-7D62CCC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Assess ABCs, vital signs, saturation, lung sounds, edema, infusion details, and fluid trend.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Pause or adjust only as authorized by policy/order and promptly notify the appropriate clinician.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Carry out revised orders and reassess breathing, output, weight, and labs.</a:t>
            </a:r>
          </a:p>
        </p:txBody>
      </p:sp>
    </p:spTree>
    <p:extLst>
      <p:ext uri="{BB962C8B-B14F-4D97-AF65-F5344CB8AC3E}">
        <p14:creationId xmlns:p14="http://schemas.microsoft.com/office/powerpoint/2010/main" val="305883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14A2E-8646-4534-9B29-D74D2265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E1C2-4988-4538-BC63-CFDA234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3BDD5-DADC-4BFA-B066-5D5B83C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D0B9A-6BF5-4975-A9E8-4DB2B964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48C12-0035-4FEC-A323-38564B9E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CF8C8-45FD-4B96-8BE1-3A87A692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008A-FB3D-4270-A5BE-DEA624DA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Which finding in a patient with an electrolyte disorder requires the fastest response?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791C9-3865-42A6-8225-9E69256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60B43-EAE1-41F0-91D3-0CDB36C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E2AE7-29E4-49FE-8B1B-4EFA7F26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Request for a diet handout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750B0-AFA6-40C8-9DF8-753F726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C8567-3F7F-4AC0-AEBA-5ADED1E8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4D639-4330-49E5-AA70-D2047886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New seizure 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95E3E-C297-499B-9477-63D12A25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F4231-45B9-4610-9D80-A100A4D7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5120D-34E0-4231-B343-D6BFB666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Question about tomorrow's lab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FA8AF-230F-4811-8CD6-4255EE8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63290-C35D-436D-AC7E-BD0912C2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AEA85-32C5-4E29-B2AD-8EE23A25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Mild chronic thirst at baseline</a:t>
            </a:r>
          </a:p>
        </p:txBody>
      </p:sp>
    </p:spTree>
    <p:extLst>
      <p:ext uri="{BB962C8B-B14F-4D97-AF65-F5344CB8AC3E}">
        <p14:creationId xmlns:p14="http://schemas.microsoft.com/office/powerpoint/2010/main" val="2024987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00664-3230-40F9-BEAD-5B057FD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AC33D-DD9C-4B5F-B297-625BB9CB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B.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86308-32A1-408B-B467-F08975B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9AF89-02B5-466F-9175-5A1E7A24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5AE87-BD0C-408A-B031-EAD7581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7D49B-2223-43DA-B152-9F876E3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DB003-1AF7-4FED-BE7F-4CA9A22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5FBB5-9182-4CB2-96F8-7EA65E82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 seizure threatens airway and neurologic safety and requires emergency response before routine teaching or scheduling.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1555A-52DF-438E-922A-3FEE497B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6E9A1-764B-4EEB-AC7F-FAFABCA9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81D86-8118-4495-8618-A1C85F8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Neurologic emergency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7B928-8673-48B7-97B2-1BBD358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49BB3-BC75-4C6C-B015-528CF04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660B0-CCBF-459C-869A-0E546F41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Acute ABC and neurologic threats come first.</a:t>
            </a:r>
          </a:p>
        </p:txBody>
      </p:sp>
    </p:spTree>
    <p:extLst>
      <p:ext uri="{BB962C8B-B14F-4D97-AF65-F5344CB8AC3E}">
        <p14:creationId xmlns:p14="http://schemas.microsoft.com/office/powerpoint/2010/main" val="425524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E0358-7830-41E0-8528-5ED8E59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20A21-05BF-482A-8443-DDA8BAE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8DCD0-684F-4573-BC1B-2906B17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F259F-7C6E-4AED-A8A8-38E0269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94BD7-FA36-41F8-8E10-B05B6BE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Fluid status is judged from trends, not one 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868AA-AFB5-4087-AA94-54F0A210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87AB4-E880-455E-A3EF-E278A11D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31F90-2133-47E6-AFF5-EF1A17B3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Sodium disturbances commonly affect neurologic status; potassium disturbances can threaten rhythm.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3D256-5DDC-45DA-8576-8C2F617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362A0-EB6A-4D39-9301-60CB4DAB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CA9DB-0414-4B54-874B-4CB0E2E2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Kidney function and medicines shape electrolyte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1506F-5A0A-4B18-86AA-DDBC5F7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0F97-F131-4B24-9619-D81FC058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18D74-A5EF-4D0F-B053-ED19096F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Replacement and correction require the correct route, rate, monitoring, and follow-up.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6B72A-284B-4579-90DB-D5A7523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EBCCD-8748-46F0-BF42-7932B07C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2562F-74C1-4999-9866-1CCEDB7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Assess the patient, verify unexpected data, and escalate critical change.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D2C11-2E9E-4BF2-ABBB-EC7A632A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3232C-3243-4686-BB30-8C223C7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MedlinePlus, U.S. National Library of Medicine: Vital signs | MedlinePlus, U.S. National Library of Medicine: Electrolyte Panel | U.S. Food and Drug Administration: Medication Errors Related to CDER-Regulated Drug Products</a:t>
            </a:r>
          </a:p>
        </p:txBody>
      </p:sp>
    </p:spTree>
    <p:extLst>
      <p:ext uri="{BB962C8B-B14F-4D97-AF65-F5344CB8AC3E}">
        <p14:creationId xmlns:p14="http://schemas.microsoft.com/office/powerpoint/2010/main" val="1905215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2026-07-13T19:11:07.4320000Z</dcterms:created>
  <dcterms:modified xsi:type="dcterms:W3CDTF">2026-07-13T19:11:07.4320000Z</dcterms:modified>
</coreProperties>
</file>