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880b59033d46b3" /><Relationship Type="http://schemas.openxmlformats.org/officeDocument/2006/relationships/extended-properties" Target="/docProps/app.xml" Id="R69a82bf1b14f4f1a" /><Relationship Type="http://schemas.openxmlformats.org/officeDocument/2006/relationships/officeDocument" Target="/ppt/presentation.xml" Id="R8b838536a2774c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7d7eca86474130"/>
  </p:sldMasterIdLst>
  <p:notesMasterIdLst>
    <p:notesMasterId xmlns:r="http://schemas.openxmlformats.org/officeDocument/2006/relationships" r:id="Re55d0788c97d475a"/>
  </p:notesMasterIdLst>
  <p:sldIdLst>
    <p:sldId xmlns:r="http://schemas.openxmlformats.org/officeDocument/2006/relationships" id="256" r:id="R369678e60f5f439b"/>
    <p:sldId xmlns:r="http://schemas.openxmlformats.org/officeDocument/2006/relationships" id="257" r:id="Reccd923d442e4be4"/>
    <p:sldId xmlns:r="http://schemas.openxmlformats.org/officeDocument/2006/relationships" id="258" r:id="Rf5214201fa574ad0"/>
    <p:sldId xmlns:r="http://schemas.openxmlformats.org/officeDocument/2006/relationships" id="259" r:id="Rf22452b2dfb74551"/>
    <p:sldId xmlns:r="http://schemas.openxmlformats.org/officeDocument/2006/relationships" id="260" r:id="R7648c3ed531d4ce2"/>
    <p:sldId xmlns:r="http://schemas.openxmlformats.org/officeDocument/2006/relationships" id="261" r:id="R773fe41138164dbc"/>
    <p:sldId xmlns:r="http://schemas.openxmlformats.org/officeDocument/2006/relationships" id="262" r:id="Rc827d2601ebc49bd"/>
    <p:sldId xmlns:r="http://schemas.openxmlformats.org/officeDocument/2006/relationships" id="263" r:id="R0544334f1a8841bb"/>
    <p:sldId xmlns:r="http://schemas.openxmlformats.org/officeDocument/2006/relationships" id="264" r:id="R0a8108d043fe44d4"/>
    <p:sldId xmlns:r="http://schemas.openxmlformats.org/officeDocument/2006/relationships" id="265" r:id="R4c992832f93e4b4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66a75c145a428a" /><Relationship Type="http://schemas.openxmlformats.org/officeDocument/2006/relationships/slideMaster" Target="/ppt/slideMasters/slideMaster1.xml" Id="R5a7d7eca86474130" /><Relationship Type="http://schemas.openxmlformats.org/officeDocument/2006/relationships/notesMaster" Target="/ppt/notesMasters/notesMaster1.xml" Id="Re55d0788c97d475a" /><Relationship Type="http://schemas.openxmlformats.org/officeDocument/2006/relationships/presProps" Target="/ppt/presProps.xml" Id="R41eaf9e11fd8420e" /><Relationship Type="http://schemas.openxmlformats.org/officeDocument/2006/relationships/tableStyles" Target="/ppt/tableStyles.xml" Id="Rf6e0ec698cd2474e" /><Relationship Type="http://schemas.openxmlformats.org/officeDocument/2006/relationships/slide" Target="/ppt/slides/slide1.xml" Id="R369678e60f5f439b" /><Relationship Type="http://schemas.openxmlformats.org/officeDocument/2006/relationships/slide" Target="/ppt/slides/slide2.xml" Id="Reccd923d442e4be4" /><Relationship Type="http://schemas.openxmlformats.org/officeDocument/2006/relationships/slide" Target="/ppt/slides/slide3.xml" Id="Rf5214201fa574ad0" /><Relationship Type="http://schemas.openxmlformats.org/officeDocument/2006/relationships/slide" Target="/ppt/slides/slide4.xml" Id="Rf22452b2dfb74551" /><Relationship Type="http://schemas.openxmlformats.org/officeDocument/2006/relationships/slide" Target="/ppt/slides/slide5.xml" Id="R7648c3ed531d4ce2" /><Relationship Type="http://schemas.openxmlformats.org/officeDocument/2006/relationships/slide" Target="/ppt/slides/slide6.xml" Id="R773fe41138164dbc" /><Relationship Type="http://schemas.openxmlformats.org/officeDocument/2006/relationships/slide" Target="/ppt/slides/slide7.xml" Id="Rc827d2601ebc49bd" /><Relationship Type="http://schemas.openxmlformats.org/officeDocument/2006/relationships/slide" Target="/ppt/slides/slide8.xml" Id="R0544334f1a8841bb" /><Relationship Type="http://schemas.openxmlformats.org/officeDocument/2006/relationships/slide" Target="/ppt/slides/slide9.xml" Id="R0a8108d043fe44d4" /><Relationship Type="http://schemas.openxmlformats.org/officeDocument/2006/relationships/slide" Target="/ppt/slides/slide10.xml" Id="R4c992832f93e4b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37b1b3c20245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0baafd7e5c4350" /><Relationship Type="http://schemas.openxmlformats.org/officeDocument/2006/relationships/notesMaster" Target="/ppt/notesMasters/notesMaster1.xml" Id="R4f38f188f98149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f83a98badc4853" /><Relationship Type="http://schemas.openxmlformats.org/officeDocument/2006/relationships/notesMaster" Target="/ppt/notesMasters/notesMaster1.xml" Id="R15e9985e4ea441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c326dc293e4f56" /><Relationship Type="http://schemas.openxmlformats.org/officeDocument/2006/relationships/notesMaster" Target="/ppt/notesMasters/notesMaster1.xml" Id="R3a6b303f8f6747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d98521094b4156" /><Relationship Type="http://schemas.openxmlformats.org/officeDocument/2006/relationships/notesMaster" Target="/ppt/notesMasters/notesMaster1.xml" Id="R745041b76ca649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fbed58ce5c41f5" /><Relationship Type="http://schemas.openxmlformats.org/officeDocument/2006/relationships/notesMaster" Target="/ppt/notesMasters/notesMaster1.xml" Id="R71445248a76f4f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229d37e65d4792" /><Relationship Type="http://schemas.openxmlformats.org/officeDocument/2006/relationships/notesMaster" Target="/ppt/notesMasters/notesMaster1.xml" Id="Rbaa6be273a7f40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84f5fee4b6400c" /><Relationship Type="http://schemas.openxmlformats.org/officeDocument/2006/relationships/notesMaster" Target="/ppt/notesMasters/notesMaster1.xml" Id="R60e2c2b1dcae4a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f45ff01d974d91" /><Relationship Type="http://schemas.openxmlformats.org/officeDocument/2006/relationships/notesMaster" Target="/ppt/notesMasters/notesMaster1.xml" Id="R73a222f3b24248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8338327c774e1d" /><Relationship Type="http://schemas.openxmlformats.org/officeDocument/2006/relationships/notesMaster" Target="/ppt/notesMasters/notesMaster1.xml" Id="R65c2ff56af844e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80df4e0d374c76" /><Relationship Type="http://schemas.openxmlformats.org/officeDocument/2006/relationships/notesMaster" Target="/ppt/notesMasters/notesMaster1.xml" Id="Rfd59d412c6b54b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7472c7fe44b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21388276de4be5" /><Relationship Type="http://schemas.openxmlformats.org/officeDocument/2006/relationships/slideLayout" Target="/ppt/slideLayouts/slideLayout1.xml" Id="R9005c5884de649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05c5884de649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7b912ab534dc0" /><Relationship Type="http://schemas.openxmlformats.org/officeDocument/2006/relationships/notesSlide" Target="/ppt/notesSlides/notesSlide1.xml" Id="R1dbc3267dd744c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e86aa8dec4a2c" /><Relationship Type="http://schemas.openxmlformats.org/officeDocument/2006/relationships/notesSlide" Target="/ppt/notesSlides/notesSlide2.xml" Id="Rf14d11c252384a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2ed87ea5446bf" /><Relationship Type="http://schemas.openxmlformats.org/officeDocument/2006/relationships/notesSlide" Target="/ppt/notesSlides/notesSlide3.xml" Id="R2bceb37a4b5645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5e6317c094c0c" /><Relationship Type="http://schemas.openxmlformats.org/officeDocument/2006/relationships/notesSlide" Target="/ppt/notesSlides/notesSlide4.xml" Id="R62bf7e21185247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c622a64f64cfe" /><Relationship Type="http://schemas.openxmlformats.org/officeDocument/2006/relationships/notesSlide" Target="/ppt/notesSlides/notesSlide5.xml" Id="R9b0195b2178447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140bff0974669" /><Relationship Type="http://schemas.openxmlformats.org/officeDocument/2006/relationships/notesSlide" Target="/ppt/notesSlides/notesSlide6.xml" Id="Re839ea0131a749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6b3cceb8744a9" /><Relationship Type="http://schemas.openxmlformats.org/officeDocument/2006/relationships/notesSlide" Target="/ppt/notesSlides/notesSlide7.xml" Id="Rd58f79ac8b9946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3eaa2efc84702" /><Relationship Type="http://schemas.openxmlformats.org/officeDocument/2006/relationships/notesSlide" Target="/ppt/notesSlides/notesSlide8.xml" Id="Rbfebdb7e5acd4b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b3ba9971c4572" /><Relationship Type="http://schemas.openxmlformats.org/officeDocument/2006/relationships/notesSlide" Target="/ppt/notesSlides/notesSlide9.xml" Id="R51248e5db0154b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d8e7d4527403a" /><Relationship Type="http://schemas.openxmlformats.org/officeDocument/2006/relationships/notesSlide" Target="/ppt/notesSlides/notesSlide10.xml" Id="Rb69b0ac224534d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104391-7258-4FAA-9C1A-6942B128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C5F3C-8FC2-4FBC-A758-25827C16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C9B5"/>
                </a:solidFill>
              </a:defRPr>
            </a:pPr>
            <a:r>
              <a:rPr sz="1200" b="1">
                <a:solidFill>
                  <a:srgbClr val="26C9B5"/>
                </a:solidFill>
              </a:rPr>
              <a:t>NURSING WITH LOLO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CFD89-68F8-47D8-9B6D-1FD47E4F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781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Health Assessment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998A4-A4F9-45BE-B870-8AA7E02B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4D6E3"/>
                </a:solidFill>
              </a:defRPr>
            </a:pPr>
            <a:r>
              <a:rPr sz="1725">
                <a:solidFill>
                  <a:srgbClr val="C4D6E3"/>
                </a:solidFill>
              </a:rPr>
              <a:t>A clear head-to-toe sequence with expected, unexpected, and urgent findings.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63D9A-39DE-4BE7-B856-4FD07C2A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1A9BB"/>
                </a:solidFill>
              </a:defRPr>
            </a:pPr>
            <a:r>
              <a:rPr sz="1275" b="1">
                <a:solidFill>
                  <a:srgbClr val="91A9BB"/>
                </a:solidFill>
              </a:rPr>
              <a:t>Simple explanations - nursing priorities - original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6EAF6-CA75-4342-B96E-E27807B2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143000"/>
            <a:ext cx="1762125" cy="1762125"/>
          </a:xfrm>
          <a:prstGeom xmlns:a="http://schemas.openxmlformats.org/drawingml/2006/main" prst="roundRect">
            <a:avLst>
              <a:gd name="adj" fmla="val 12973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641BE-799C-4EF6-B4D6-59A8FFBF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00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6C9B5"/>
                </a:solidFill>
              </a:defRPr>
            </a:pPr>
            <a:r>
              <a:rPr sz="3600" b="1">
                <a:solidFill>
                  <a:srgbClr val="26C9B5"/>
                </a:solidFill>
              </a:rPr>
              <a:t>LOLO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9AA65-BD02-4114-A6EE-AA985973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622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STUDY EDITION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4CBE5-8307-4141-8260-E26BD095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29BAD"/>
                </a:solidFill>
              </a:defRPr>
            </a:pPr>
            <a:r>
              <a:rPr sz="825">
                <a:solidFill>
                  <a:srgbClr val="829BAD"/>
                </a:solidFill>
              </a:rPr>
              <a:t>Independent study aid - verify current clinical policy</a:t>
            </a:r>
          </a:p>
        </p:txBody>
      </p:sp>
    </p:spTree>
    <p:extLst>
      <p:ext uri="{BB962C8B-B14F-4D97-AF65-F5344CB8AC3E}">
        <p14:creationId xmlns:p14="http://schemas.microsoft.com/office/powerpoint/2010/main" val="6773914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C5B158-7FAD-4D0D-89E8-7EF3C144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9C462-84CD-4022-BFCD-50F2FCD3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By the end, you can...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06B40-13BB-4EDB-A00E-52D2AB9B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22A51-E9D5-4A7C-997E-41D1D27B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0770A-278D-46BE-82E0-63DDAB91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1E4CE-0EA2-42BA-A4FB-6F82011C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5A9F7-6545-448F-A449-E598E37C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FCC6D-9BB1-4060-8517-078D9442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1BA53-5292-469B-9261-2F50A76C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Organize a respectful, efficient head-to-toe assessment.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D9D2C-D97E-4DD9-8A5B-6181B8A4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2710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6F04D-C0E9-487B-85EA-84C1F1D7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653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D62C0-37BD-464F-AC47-7EA0B07B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7960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Distinguish expected, unexpected, and urgent findings.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838DF-FE72-40FD-964A-3C10B989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329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B59AB-14E0-4C03-B795-201DDEAB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712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E5ED2-2618-4A43-865E-2F482382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9854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Document and escalate meaningful assessment changes.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DAA25-B410-44E3-8A85-02728B0B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73880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C07AD-994C-4B1F-BAAA-F6B235B8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770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711D7-409C-4B5C-9FAE-84F3C289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69130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Measure and validate vital signs using appropriate technique.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B1B3B5-2523-482D-A348-7B8A6690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446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8BA6A-C23D-4F86-AE12-80CACD02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6829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90CD66-BB6B-4881-983E-CEEA76D1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971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Interpret trends in the context of the individual patient.</a:t>
            </a:r>
          </a:p>
        </p:txBody>
      </p:sp>
    </p:spTree>
    <p:extLst>
      <p:ext uri="{BB962C8B-B14F-4D97-AF65-F5344CB8AC3E}">
        <p14:creationId xmlns:p14="http://schemas.microsoft.com/office/powerpoint/2010/main" val="17891186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0946B4-CF13-468D-B949-A4A0228F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EXPLAIN IT SIMPLY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A18AC-4BEC-4830-8ADB-7ED45909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Start with the story that makes the details stick.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53739-D92F-4413-8523-D96DCBDA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ECFB6-79EB-4A89-ADC1-834E9445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90678-CC76-4413-AE8F-43FCB20A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8E128-1457-4060-BD47-575675B1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0E982-4FB4-43B0-934A-F72300B2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F9B25-818B-4AAD-AFA1-4D92D8D9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74432-C6A8-4805-81A8-80B236A2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Start with a general survey: appearance, behavior, breathing, position, mobility, and immediate safety. If the patient appears unstable, switch to a rapid primary assessment and call for help.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8F656-DDE7-42BD-9934-4F9F36E3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0356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F3ED3-7B42-4A4F-B840-AB1FD090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4181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50320-9E30-42CA-916B-3E844FB2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5606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For a stable patient, use the same organized sequence each time so fewer areas are missed. Compare both sides when appropriate and connect findings rather than treating each system as separate.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FF69C-3892-49DC-829D-39ED3A2D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8588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3392C-A19F-457E-847E-760E8CC7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2413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CF732-B081-4589-8D9B-1AED602C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3838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Assessment includes what the patient reports, what the nurse observes, focused measurements, and relevant records. A finding matters most when it is new, worsening, inconsistent with baseline, or linked to symptoms.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BB0FE6-D882-433F-8144-15C44584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6819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4D207-D204-463C-83F7-C320A6C3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0644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A4E86-3CAB-4308-A9C5-421E85C1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2069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Temperature, pulse, respirations, blood pressure, oxygen saturation, and pain data help the nurse recognize stability or change. Expected values vary with age, condition, activity, environment, and treatment.</a:t>
            </a:r>
          </a:p>
        </p:txBody>
      </p:sp>
    </p:spTree>
    <p:extLst>
      <p:ext uri="{BB962C8B-B14F-4D97-AF65-F5344CB8AC3E}">
        <p14:creationId xmlns:p14="http://schemas.microsoft.com/office/powerpoint/2010/main" val="7636697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E9ECA8-B43A-4DDE-989E-C1A1E20C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PATHWAY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89594-80AE-43AE-A680-026D17E6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Notice the cue, connect the risk, then choose the safest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A91EC-3C80-4B35-B5F2-166BEA2C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FDFB5-B420-49DA-8AA2-B1304743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6B890-5DB1-47B0-9D4C-52354C6F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28C21-2014-424F-B5E9-878BCAEC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E4E30-29E3-4C9C-80F8-24CAFE5C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1320C-3B51-48A0-B899-5BF541A4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9819A-4FAE-44B7-85A1-48BEB8B0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Pause the routine sequence for any immediate airway, breathing, circulation, neurologic, or safety threat.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2568C-A3B5-432F-8989-F85E15CE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4BD1B-AE9D-4BE0-96D5-741A399E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925DF-D863-4AFA-AA8D-70BC3C04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46FAB-7868-49C2-BABC-B1256091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Stay with an unstable patient and activate the facility response pathway.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FB7E72-160B-420D-BA09-C2468039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19394-A658-43C8-8130-FB751E26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60B2D-4821-4945-A31F-F604209D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245E2-B627-4854-A3C9-07BB3B36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Compare a new finding with baseline and notify the appropriate clinician using a focused SBAR.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E8E97-66A6-4FA9-9ABF-AFC0CDED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87982-99A5-4ACA-BAB6-D3F9DE9B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4A3639-4BFA-4B67-B49E-71E762B2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DB302-3114-41FE-8BB5-CF593D63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Reassess after intervention or when the patient's condition changes.</a:t>
            </a:r>
          </a:p>
        </p:txBody>
      </p:sp>
    </p:spTree>
    <p:extLst>
      <p:ext uri="{BB962C8B-B14F-4D97-AF65-F5344CB8AC3E}">
        <p14:creationId xmlns:p14="http://schemas.microsoft.com/office/powerpoint/2010/main" val="8885997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86A839-79C8-4C04-A749-489E4C4E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ASSESSMENT AND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A159E-9416-485F-966A-5AED54BF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Trend the client, not a single number.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A909E-2D3A-4FD5-BC9D-5E8E89EC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1A2C1-9DEF-4070-B1C0-C38207A7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D6D49-7C6C-4025-813A-75FDE132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73954-E7A2-4EFF-B990-22C30723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5319F-8283-4DAC-A635-26880929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2197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57A5D-46BE-46B1-BC51-538A6AAD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570"/>
                </a:solidFill>
              </a:defRPr>
            </a:pPr>
            <a:r>
              <a:rPr sz="1125" b="1">
                <a:solidFill>
                  <a:srgbClr val="168570"/>
                </a:solidFill>
              </a:rPr>
              <a:t>WHAT TO 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35185-A349-4E0B-A7DE-A1E10D7A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D7875-D9CE-4960-94C0-0FD2F5FF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24491-4B06-42D4-959D-AE67AC6E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527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Verify identity, explain the assessment, provide privacy, clean hands, and ask about current concerns.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464A6-071E-4EA7-951C-B317FC7E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2A294-F596-4F4B-BE1F-14359CF0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2192A-F63C-469F-AA8D-B0CAC09C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Complete a general survey and review vital signs, pain, allergies, safety risks, and relevant history.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6BBD7-24F1-4E56-9836-0B17BA2F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47F3C-D684-43B1-BDA1-F6414893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84750-7E4D-4507-82FE-E14D9BA7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Assess neurologic, head and neck, respiratory, cardiovascular, abdominal, urinary, musculoskeletal, skin, and psychosocial findings as appropriate.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62D72-7964-4E54-83C0-440506F1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E74BF-B452-4860-A70E-B57F64B4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154BF-CB7D-490E-963E-8991FF95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Inspect lines, drains, wounds, access sites, and safety equipment without disrupting therapy or sterile systems.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9DCC14-1AEE-4491-B778-F312EF5D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4673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506156-999F-4E46-9B18-2885680F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455D"/>
                </a:solidFill>
              </a:defRPr>
            </a:pPr>
            <a:r>
              <a:rPr sz="1125" b="1">
                <a:solidFill>
                  <a:srgbClr val="C8455D"/>
                </a:solidFill>
              </a:rPr>
              <a:t>WHAT CAN HARM THE CLIENT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E9628A-6FBF-4B53-B377-AF6F903B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3E7B89-108E-402D-8B75-CE02A44D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146EB0-FB52-460C-AA5C-B47ED9BD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continue a routine exam while a patient shows signs of acute deterioration.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F76E13-E50B-4888-98A4-27E04025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F56F73-8F24-48CE-A7A5-075619F2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5AFAD-2FC5-4864-B243-6D7E0535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force movement, remove protective devices, or interrupt therapy without verifying restrictions.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2A7423-A406-442F-869E-283680A3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EE703C-71D8-4938-8002-5E062CA1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76366A-1D4C-4CFB-86AF-1BE83607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label a finding normal solely because it was documented earlier; compare it with the patient now.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F6DD2E-F4CB-4FA6-810A-0AAB07E1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149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2B8D89-69F9-44AD-81D7-DFA3CA38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DC5276-DAE5-430B-8045-22D83992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101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chart a device value you know is unreliable without repeating or explaining the limitation.</a:t>
            </a:r>
          </a:p>
        </p:txBody>
      </p:sp>
    </p:spTree>
    <p:extLst>
      <p:ext uri="{BB962C8B-B14F-4D97-AF65-F5344CB8AC3E}">
        <p14:creationId xmlns:p14="http://schemas.microsoft.com/office/powerpoint/2010/main" val="521646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205471-196E-49A0-8ADD-D0C0C38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MEMORY THAT TRANSFERS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7263C-B995-4E96-B275-6E302820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Use the hook - then return to the clinical why.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16B69-CE1F-4E86-B360-2C6EC3E1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B9858-FF15-49FC-BA5F-A280CA9F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FACBC-C41F-4383-B846-ED94CA29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Survey first, systems next, safety always.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A9566-557A-41AE-965C-652F8E59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C9ABD-5DA1-44DA-961B-6A7120A6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0A932-7423-49B8-BB20-5EBA0F6D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Look, listen, feel-then link the findings.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EF0C7-DA59-43E8-AF98-9A4B7F67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AD637-D8B3-449B-8788-B7FCFD52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8BF8F-DF5F-4A92-90D6-3493C6FF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New, unequal, worsening, or symptomatic = follow 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19064-F384-46F4-AC9D-5D911FFF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247B7-F9DC-46B3-A6FF-1707C775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6C3B1-A9E9-49FF-9C66-CBD229A4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See the patient, check the number, trace the trend.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2B090-C780-4F4E-8A16-137DC3CA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FA7B8"/>
                </a:solidFill>
              </a:defRPr>
            </a:pPr>
            <a:r>
              <a:rPr sz="825">
                <a:solidFill>
                  <a:srgbClr val="8FA7B8"/>
                </a:solidFill>
              </a:rPr>
              <a:t>Memory aids support recall; current clinical references and policy guide care.</a:t>
            </a:r>
          </a:p>
        </p:txBody>
      </p:sp>
    </p:spTree>
    <p:extLst>
      <p:ext uri="{BB962C8B-B14F-4D97-AF65-F5344CB8AC3E}">
        <p14:creationId xmlns:p14="http://schemas.microsoft.com/office/powerpoint/2010/main" val="16568134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076581-49C8-4907-8A9B-5CA18498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CLINICAL JUDGMENT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075C3-5F47-435F-96AB-FF945C88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A changing client turns facts into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459EE-5D3D-42B9-84C2-2067E512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6C1C0-FD7D-4CCD-8EA9-83E85205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7CCBD-3A49-4985-9F1F-C5C125E9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2F8F0-4B42-4ED1-8D6A-F143194B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76E99-717C-4701-84C5-7C14BCF7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34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E94F2-1582-4861-A5C1-BDE8F539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During a routine assessment, the nurse notices a new facial droop and the patient's speech sounds different from the earlier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48902-16CC-4317-91AE-A8924123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6C9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AADEA-97A9-4EDF-87F0-0AAAB76F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C9B5"/>
                </a:solidFill>
              </a:defRPr>
            </a:pPr>
            <a:r>
              <a:rPr sz="1125" b="1">
                <a:solidFill>
                  <a:srgbClr val="26C9B5"/>
                </a:solidFill>
              </a:rPr>
              <a:t>NOTICE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D58B6-1859-4150-8B92-52A08614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New facial asymmetry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New speech change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Clear change from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A01FA-6F96-4E49-9DDE-027534D6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6F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14B8E-743A-4AF2-8541-D969476F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6FF2"/>
                </a:solidFill>
              </a:defRPr>
            </a:pPr>
            <a:r>
              <a:rPr sz="1125" b="1">
                <a:solidFill>
                  <a:srgbClr val="456FF2"/>
                </a:solidFill>
              </a:rPr>
              <a:t>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3EA82-9A84-4918-93F8-BF2C8F04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Possible acute neurologic emergency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Routine assessment must stop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DFF48-5641-4DFD-A1EE-D4272C18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17C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64EF5-37FF-4E1A-9E23-5407E368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7C8E"/>
                </a:solidFill>
              </a:defRPr>
            </a:pPr>
            <a:r>
              <a:rPr sz="1125" b="1">
                <a:solidFill>
                  <a:srgbClr val="F17C8E"/>
                </a:solidFill>
              </a:rPr>
              <a:t>RESPOND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09EF8-10D3-4334-8788-6E8C0AA0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Note the time and complete a rapid focused neurologic and immediate safety assessment.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Activate the designated urgent-response pathway without delay.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Communicate baseline, new findings, relevant timing, and response; reassess continuously.</a:t>
            </a:r>
          </a:p>
        </p:txBody>
      </p:sp>
    </p:spTree>
    <p:extLst>
      <p:ext uri="{BB962C8B-B14F-4D97-AF65-F5344CB8AC3E}">
        <p14:creationId xmlns:p14="http://schemas.microsoft.com/office/powerpoint/2010/main" val="898657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D2E2F4-FE71-43DB-A1ED-6D9392A8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PRACTICE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C57C8-CBE9-4AEF-B734-26903AA6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Choose before you look at the rationale.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AB5F9-7CA1-4BE1-B7C9-0A4D5B65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3CADF-3783-4656-83D5-3ABADE95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36989-0A31-4847-BA66-CD809D17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779C2-06ED-44F0-8EB4-F6D19A15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3228B-263B-4BBE-AB59-3DD738DF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24B"/>
                </a:solidFill>
              </a:defRPr>
            </a:pPr>
            <a:r>
              <a:rPr sz="1875" b="1">
                <a:solidFill>
                  <a:srgbClr val="15324B"/>
                </a:solidFill>
              </a:rPr>
              <a:t>During a routine head-to-toe assessment, the patient develops labored breathing and altered alertness. What should the nurse do first?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16EAE-C571-4F3C-A0C0-1FDCD872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B5887-4673-4C3C-9E22-125B3A85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2B197-897B-4296-8D2A-AFAD669F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Stop the routine sequence and perform a rapid airway, breathing, and circulation assessment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D3765-1C68-4A7F-9063-554226A5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70255-B507-42BB-B481-9A826CF3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DC895-9400-44F9-9EBF-3F6F16EC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Finish the skin assessment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8552A-98F0-4876-93DF-D6FD94A1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881FC-12BA-4686-A618-DB03C4F4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9F3C1-17C1-4573-94CE-0D457F1A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Ask the patient to wait until documentation is 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94047B-A37C-4043-92DD-73F48BE6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BECE83-894E-4186-B7EB-B92CB974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D22F1A-62AB-439A-A432-8D2B6D83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Continue in the usual order</a:t>
            </a:r>
          </a:p>
        </p:txBody>
      </p:sp>
    </p:spTree>
    <p:extLst>
      <p:ext uri="{BB962C8B-B14F-4D97-AF65-F5344CB8AC3E}">
        <p14:creationId xmlns:p14="http://schemas.microsoft.com/office/powerpoint/2010/main" val="4050186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9C8B0F-6A54-40D9-A551-FA9863FA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ANSWER AND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CAD3B-9B0B-42A7-B2E1-4AFC0273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The answer is A. Now make the reasoning reusable.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FAE29-CD83-4472-8DE8-1BEF2063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9364F-48BD-4686-B13F-C1CA94DE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694B5-CAE0-4C39-B795-1808913D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A369F-E614-40B3-B415-2ECA2AF0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FEFE6-FAFD-4D33-B6A1-7F4235E8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9347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82ABD-F892-4AF4-B97D-AC1BAA7B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Acute instability overrides the routine assessment 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E482B-061E-45EB-84DD-A604B7E7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5238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6074F-536F-44E9-9FFD-D6D58258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CONCEPT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DB7A7-20CC-4D0C-AD1E-6DED1037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Primary assessment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E5831-6A41-4DAB-8920-F8D97980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54673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5D8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6805B-C34F-4DAE-B1C1-71C84EAF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43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6513"/>
                </a:solidFill>
              </a:defRPr>
            </a:pPr>
            <a:r>
              <a:rPr sz="1050" b="1">
                <a:solidFill>
                  <a:srgbClr val="A76513"/>
                </a:solidFill>
              </a:rPr>
              <a:t>TEST-TAKING CLUE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FC53A-5C12-40AB-970E-4AF7CCBC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148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Acute breathing plus mentation change means instability.</a:t>
            </a:r>
          </a:p>
        </p:txBody>
      </p:sp>
    </p:spTree>
    <p:extLst>
      <p:ext uri="{BB962C8B-B14F-4D97-AF65-F5344CB8AC3E}">
        <p14:creationId xmlns:p14="http://schemas.microsoft.com/office/powerpoint/2010/main" val="5535750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61A6D1-2310-4BD4-9199-0B6CFCB9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TAKE IT WITH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1ADD1-015D-444A-BA93-84BA29EC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Five things worth remembering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EDBF3-2032-40F9-824D-BDAD3977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3A11D-13DC-4751-A3F1-70091F60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22EF9-B438-46C6-884E-900CA825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Begin with a general survey and switch to rapid priorities when instability appears.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EB04A-D557-4796-85C8-02E75BEE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649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0A10C-024F-45F3-A93A-73D7EB7F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032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7AFB0-434B-483B-8C83-0F2AB1E2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174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Use a consistent sequence, compare sides and baseline, and connect findings.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BD307-906C-4D6F-9982-828643DB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086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C70E0-66AD-4044-91DF-DD296D77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469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D9FA9-4649-4C55-83B1-3477D9F7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611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Document and escalate new, worsening, unequal, or symptomatic findings.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734F1F-9131-43F4-ADBA-D8B73D64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523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D644C-F6ED-4213-82CC-53F6AC33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906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1D6BC-59EF-4F71-AA80-DF196742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048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Vital signs require accurate technique, context, and trends.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D656E-E7C0-46E9-9599-0DD4BDF5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960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24948-6BDD-4DF0-8E9F-655C7C8B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8343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94B621-14E5-45ED-9D50-CC5B7303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485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Assess the patient before trusting or rejecting an unexpected number.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93071D-ACCC-4116-992A-5C31FEAE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FC3D1"/>
                </a:solidFill>
              </a:defRPr>
            </a:pPr>
            <a:r>
              <a:rPr sz="1050">
                <a:solidFill>
                  <a:srgbClr val="AFC3D1"/>
                </a:solidFill>
              </a:rPr>
              <a:t>Reviewed 2026-07-13. Independent educational study aid. Verify current clinical references, instructor direction, scope, orders, manufacturer instructions, and facility policy.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4EF70-752F-41E0-9D56-6B81E7A9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F99AB"/>
                </a:solidFill>
              </a:defRPr>
            </a:pPr>
            <a:r>
              <a:rPr sz="750">
                <a:solidFill>
                  <a:srgbClr val="7F99AB"/>
                </a:solidFill>
              </a:rPr>
              <a:t>National Council of State Boards of Nursing: 2026 NCLEX-PN Test Plan | MedlinePlus, U.S. National Library of Medicine: Vital signs | MedlinePlus, U.S. National Library of Medicine: Electrolyte Panel</a:t>
            </a:r>
          </a:p>
        </p:txBody>
      </p:sp>
    </p:spTree>
    <p:extLst>
      <p:ext uri="{BB962C8B-B14F-4D97-AF65-F5344CB8AC3E}">
        <p14:creationId xmlns:p14="http://schemas.microsoft.com/office/powerpoint/2010/main" val="120235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2026-07-13T19:10:44.9750000Z</dcterms:created>
  <dcterms:modified xsi:type="dcterms:W3CDTF">2026-07-13T19:10:44.9750000Z</dcterms:modified>
</coreProperties>
</file>