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6a248d431642ee" /><Relationship Type="http://schemas.openxmlformats.org/officeDocument/2006/relationships/extended-properties" Target="/docProps/app.xml" Id="Rf08cf301e1514d44" /><Relationship Type="http://schemas.openxmlformats.org/officeDocument/2006/relationships/officeDocument" Target="/ppt/presentation.xml" Id="R9894e17fc71c4f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1ce982af21484f"/>
  </p:sldMasterIdLst>
  <p:notesMasterIdLst>
    <p:notesMasterId xmlns:r="http://schemas.openxmlformats.org/officeDocument/2006/relationships" r:id="Rd4d9c80824f34a9c"/>
  </p:notesMasterIdLst>
  <p:sldIdLst>
    <p:sldId xmlns:r="http://schemas.openxmlformats.org/officeDocument/2006/relationships" id="256" r:id="R06bd972b7dd74429"/>
    <p:sldId xmlns:r="http://schemas.openxmlformats.org/officeDocument/2006/relationships" id="257" r:id="Rcd9fa33c66784942"/>
    <p:sldId xmlns:r="http://schemas.openxmlformats.org/officeDocument/2006/relationships" id="258" r:id="Ra8aa38e096694486"/>
    <p:sldId xmlns:r="http://schemas.openxmlformats.org/officeDocument/2006/relationships" id="259" r:id="R3b7eb07bcb4d4505"/>
    <p:sldId xmlns:r="http://schemas.openxmlformats.org/officeDocument/2006/relationships" id="260" r:id="R2d86dfaa64b94f3b"/>
    <p:sldId xmlns:r="http://schemas.openxmlformats.org/officeDocument/2006/relationships" id="261" r:id="Rb2acc2e77baa47f4"/>
    <p:sldId xmlns:r="http://schemas.openxmlformats.org/officeDocument/2006/relationships" id="262" r:id="R9d8123f3f1274c69"/>
    <p:sldId xmlns:r="http://schemas.openxmlformats.org/officeDocument/2006/relationships" id="263" r:id="Rf02a451ab9db42e4"/>
    <p:sldId xmlns:r="http://schemas.openxmlformats.org/officeDocument/2006/relationships" id="264" r:id="R2bc781502eae440e"/>
    <p:sldId xmlns:r="http://schemas.openxmlformats.org/officeDocument/2006/relationships" id="265" r:id="R87abb0bd069247b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bf4e3ef6314f14" /><Relationship Type="http://schemas.openxmlformats.org/officeDocument/2006/relationships/slideMaster" Target="/ppt/slideMasters/slideMaster1.xml" Id="R941ce982af21484f" /><Relationship Type="http://schemas.openxmlformats.org/officeDocument/2006/relationships/notesMaster" Target="/ppt/notesMasters/notesMaster1.xml" Id="Rd4d9c80824f34a9c" /><Relationship Type="http://schemas.openxmlformats.org/officeDocument/2006/relationships/presProps" Target="/ppt/presProps.xml" Id="R35a4d074be934fe0" /><Relationship Type="http://schemas.openxmlformats.org/officeDocument/2006/relationships/tableStyles" Target="/ppt/tableStyles.xml" Id="Rdc1c0182c82548de" /><Relationship Type="http://schemas.openxmlformats.org/officeDocument/2006/relationships/slide" Target="/ppt/slides/slide1.xml" Id="R06bd972b7dd74429" /><Relationship Type="http://schemas.openxmlformats.org/officeDocument/2006/relationships/slide" Target="/ppt/slides/slide2.xml" Id="Rcd9fa33c66784942" /><Relationship Type="http://schemas.openxmlformats.org/officeDocument/2006/relationships/slide" Target="/ppt/slides/slide3.xml" Id="Ra8aa38e096694486" /><Relationship Type="http://schemas.openxmlformats.org/officeDocument/2006/relationships/slide" Target="/ppt/slides/slide4.xml" Id="R3b7eb07bcb4d4505" /><Relationship Type="http://schemas.openxmlformats.org/officeDocument/2006/relationships/slide" Target="/ppt/slides/slide5.xml" Id="R2d86dfaa64b94f3b" /><Relationship Type="http://schemas.openxmlformats.org/officeDocument/2006/relationships/slide" Target="/ppt/slides/slide6.xml" Id="Rb2acc2e77baa47f4" /><Relationship Type="http://schemas.openxmlformats.org/officeDocument/2006/relationships/slide" Target="/ppt/slides/slide7.xml" Id="R9d8123f3f1274c69" /><Relationship Type="http://schemas.openxmlformats.org/officeDocument/2006/relationships/slide" Target="/ppt/slides/slide8.xml" Id="Rf02a451ab9db42e4" /><Relationship Type="http://schemas.openxmlformats.org/officeDocument/2006/relationships/slide" Target="/ppt/slides/slide9.xml" Id="R2bc781502eae440e" /><Relationship Type="http://schemas.openxmlformats.org/officeDocument/2006/relationships/slide" Target="/ppt/slides/slide10.xml" Id="R87abb0bd069247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d7211b5a414a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ca7f3904b24810" /><Relationship Type="http://schemas.openxmlformats.org/officeDocument/2006/relationships/notesMaster" Target="/ppt/notesMasters/notesMaster1.xml" Id="R3c1265eaf9de43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9a9eebed8246f5" /><Relationship Type="http://schemas.openxmlformats.org/officeDocument/2006/relationships/notesMaster" Target="/ppt/notesMasters/notesMaster1.xml" Id="Rd7e59bf0f9aa42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d85884325142f1" /><Relationship Type="http://schemas.openxmlformats.org/officeDocument/2006/relationships/notesMaster" Target="/ppt/notesMasters/notesMaster1.xml" Id="R76c4fefb594d49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26c33ad3ec4632" /><Relationship Type="http://schemas.openxmlformats.org/officeDocument/2006/relationships/notesMaster" Target="/ppt/notesMasters/notesMaster1.xml" Id="R66630025ba874f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546d0686464079" /><Relationship Type="http://schemas.openxmlformats.org/officeDocument/2006/relationships/notesMaster" Target="/ppt/notesMasters/notesMaster1.xml" Id="R0d169a3a6f5242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b97d7625ad46a1" /><Relationship Type="http://schemas.openxmlformats.org/officeDocument/2006/relationships/notesMaster" Target="/ppt/notesMasters/notesMaster1.xml" Id="R77695125c15d43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5c632bcf0b4094" /><Relationship Type="http://schemas.openxmlformats.org/officeDocument/2006/relationships/notesMaster" Target="/ppt/notesMasters/notesMaster1.xml" Id="Rdff43d8c68d64b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1033e92f7541f0" /><Relationship Type="http://schemas.openxmlformats.org/officeDocument/2006/relationships/notesMaster" Target="/ppt/notesMasters/notesMaster1.xml" Id="Reb71dc250a164a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0c9c2947114a88" /><Relationship Type="http://schemas.openxmlformats.org/officeDocument/2006/relationships/notesMaster" Target="/ppt/notesMasters/notesMaster1.xml" Id="Rd7d3af8593ae48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11623790124a51" /><Relationship Type="http://schemas.openxmlformats.org/officeDocument/2006/relationships/notesMaster" Target="/ppt/notesMasters/notesMaster1.xml" Id="R7dcabec9770b43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c4a98e6bb4e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1d6f37ebf647c5" /><Relationship Type="http://schemas.openxmlformats.org/officeDocument/2006/relationships/slideLayout" Target="/ppt/slideLayouts/slideLayout1.xml" Id="Rd96db11ed0ed46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6db11ed0ed46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b6c30a7c74305" /><Relationship Type="http://schemas.openxmlformats.org/officeDocument/2006/relationships/notesSlide" Target="/ppt/notesSlides/notesSlide1.xml" Id="Rf7120634c7064e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2858f34ac4f8a" /><Relationship Type="http://schemas.openxmlformats.org/officeDocument/2006/relationships/notesSlide" Target="/ppt/notesSlides/notesSlide2.xml" Id="R076d99b91da14d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5970bcfef4d4a" /><Relationship Type="http://schemas.openxmlformats.org/officeDocument/2006/relationships/notesSlide" Target="/ppt/notesSlides/notesSlide3.xml" Id="R1676e1a8f2b04e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7953821e141f8" /><Relationship Type="http://schemas.openxmlformats.org/officeDocument/2006/relationships/notesSlide" Target="/ppt/notesSlides/notesSlide4.xml" Id="R333b1f305cc64e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50166ee1444b7" /><Relationship Type="http://schemas.openxmlformats.org/officeDocument/2006/relationships/notesSlide" Target="/ppt/notesSlides/notesSlide5.xml" Id="Re7dee06867a347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ac733624e46fa" /><Relationship Type="http://schemas.openxmlformats.org/officeDocument/2006/relationships/notesSlide" Target="/ppt/notesSlides/notesSlide6.xml" Id="R78a7f70a6fc348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6fd4608cf4729" /><Relationship Type="http://schemas.openxmlformats.org/officeDocument/2006/relationships/notesSlide" Target="/ppt/notesSlides/notesSlide7.xml" Id="R62888c8af6b44f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1e555ef314555" /><Relationship Type="http://schemas.openxmlformats.org/officeDocument/2006/relationships/notesSlide" Target="/ppt/notesSlides/notesSlide8.xml" Id="R89b8824cd52343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902e3f96b4c87" /><Relationship Type="http://schemas.openxmlformats.org/officeDocument/2006/relationships/notesSlide" Target="/ppt/notesSlides/notesSlide9.xml" Id="R5173159b73214c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d4a17d4cd416e" /><Relationship Type="http://schemas.openxmlformats.org/officeDocument/2006/relationships/notesSlide" Target="/ppt/notesSlides/notesSlide10.xml" Id="R419e70ab9d8a4c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9FB970-F2E3-41DF-8C8D-62A96E96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6F883-86A3-41DB-BFF1-AEEE894E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C9B5"/>
                </a:solidFill>
              </a:defRPr>
            </a:pPr>
            <a:r>
              <a:rPr sz="1200" b="1">
                <a:solidFill>
                  <a:srgbClr val="26C9B5"/>
                </a:solidFill>
              </a:rPr>
              <a:t>NURSING WITH LOLO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FE489-F10B-403F-96D8-BC4D522A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781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Pediatric Nursing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C6CC4-832A-4559-B9FC-53F98513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4D6E3"/>
                </a:solidFill>
              </a:defRPr>
            </a:pPr>
            <a:r>
              <a:rPr sz="1725">
                <a:solidFill>
                  <a:srgbClr val="C4D6E3"/>
                </a:solidFill>
              </a:rPr>
              <a:t>Development, family-centered assessment, medication safety, and deterioration cues.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C0B83-776C-4A9D-A452-D3ACE087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1A9BB"/>
                </a:solidFill>
              </a:defRPr>
            </a:pPr>
            <a:r>
              <a:rPr sz="1275" b="1">
                <a:solidFill>
                  <a:srgbClr val="91A9BB"/>
                </a:solidFill>
              </a:rPr>
              <a:t>Simple explanations - nursing priorities - original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DF6B4-B976-44B2-9B5C-D23F2C66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143000"/>
            <a:ext cx="1762125" cy="1762125"/>
          </a:xfrm>
          <a:prstGeom xmlns:a="http://schemas.openxmlformats.org/drawingml/2006/main" prst="roundRect">
            <a:avLst>
              <a:gd name="adj" fmla="val 12973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0EADC-E60E-4217-9E3D-6D6E8738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00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6C9B5"/>
                </a:solidFill>
              </a:defRPr>
            </a:pPr>
            <a:r>
              <a:rPr sz="3600" b="1">
                <a:solidFill>
                  <a:srgbClr val="26C9B5"/>
                </a:solidFill>
              </a:rPr>
              <a:t>LOLO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1D695-249F-4A86-A420-FA7E95D7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622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STUDY EDITION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B8999-69B2-4A2A-BCE3-BA583F8C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29BAD"/>
                </a:solidFill>
              </a:defRPr>
            </a:pPr>
            <a:r>
              <a:rPr sz="825">
                <a:solidFill>
                  <a:srgbClr val="829BAD"/>
                </a:solidFill>
              </a:rPr>
              <a:t>Independent study aid - verify current clinical policy</a:t>
            </a:r>
          </a:p>
        </p:txBody>
      </p:sp>
    </p:spTree>
    <p:extLst>
      <p:ext uri="{BB962C8B-B14F-4D97-AF65-F5344CB8AC3E}">
        <p14:creationId xmlns:p14="http://schemas.microsoft.com/office/powerpoint/2010/main" val="1527949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0813F0-F6F2-4AB3-B846-8C495E1B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292D2-56EC-4FB3-B65F-4D9E906A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By the end, you can...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7B846-95A5-4068-97EF-F0ED04C6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A57D3-AD59-4346-8147-03A4BB52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992A7-825B-4F5A-9C01-48355116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33192-5526-4091-BC7A-C65019E1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4A056-68AB-43A3-9B8D-0642EC24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E2534-66B4-45FE-8CBC-8F67E00A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30A94-89AE-40A7-8F61-C7BE9BF4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Use developmental stage to guide communication and assessment.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594F9-28DC-4C76-B5E4-587BF3CE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0356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FF71C-BB37-4A8C-82F0-67BD4F86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4181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045B0-9BE8-4777-93B4-56CEA2E5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5606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Recognize pediatric respiratory, hydration, neurologic, and safety warning signs.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3F630-C8D6-42DD-98F8-5D5F2860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8588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D2FAD-3C7E-4FEF-9B96-9A55FE3B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2413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E9E65-BB1D-4724-835C-4CDE4521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3838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Explain the independent checks required for pediatric medications.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19141-B875-4167-B644-9B8744D8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6819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44DCF-414F-46B5-8372-44248AFA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0644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19425F-9EBB-4DFB-BFFC-DBDE91F3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2069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Partner with caregivers while still observing the child directly.</a:t>
            </a:r>
          </a:p>
        </p:txBody>
      </p:sp>
    </p:spTree>
    <p:extLst>
      <p:ext uri="{BB962C8B-B14F-4D97-AF65-F5344CB8AC3E}">
        <p14:creationId xmlns:p14="http://schemas.microsoft.com/office/powerpoint/2010/main" val="12268182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77670A-3C2A-408E-ADC1-D0C3CC01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EXPLAIN IT SIMPLY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3BA5B-E145-4042-BFA6-1C342B1E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Start with the story that makes the details stick.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BE3B2-D563-41A5-9DEC-459EEEE8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960B0-7AA2-4C04-A489-6DD7C243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AB89D-9069-4F31-AC9D-BE909A3F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D10DD-14EB-440D-8836-11BDC618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85413-9485-4169-AA65-AD8CFD97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1336675"/>
          </a:xfrm>
          <a:prstGeom xmlns:a="http://schemas.openxmlformats.org/drawingml/2006/main" prst="roundRect">
            <a:avLst>
              <a:gd name="adj" fmla="val 8551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930DB-7F05-460B-9519-9B7BC147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D1473-869C-4D2E-8604-9A323A38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1184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Begin with how the child looks and acts before touching: breathing effort, color, interaction, movement, and comfort often reveal urgency.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A44F3-E525-41A5-A004-F2C6E45D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3100"/>
            <a:ext cx="10934700" cy="1336675"/>
          </a:xfrm>
          <a:prstGeom xmlns:a="http://schemas.openxmlformats.org/drawingml/2006/main" prst="roundRect">
            <a:avLst>
              <a:gd name="adj" fmla="val 8551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5DCD3-457A-4E32-9841-E64CFCDA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69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E50D4-36E0-4EE3-9B5A-E5FE0D6A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08350"/>
            <a:ext cx="10210800" cy="1184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Compare growth and behavior with the child's usual pattern and developmental stage, not with an adult standard.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ACA1A-6DFF-44E9-BFA8-2A2C81AC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4075"/>
            <a:ext cx="10934700" cy="1336675"/>
          </a:xfrm>
          <a:prstGeom xmlns:a="http://schemas.openxmlformats.org/drawingml/2006/main" prst="roundRect">
            <a:avLst>
              <a:gd name="adj" fmla="val 8551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FD8C0-404D-4CE8-894B-33F85E75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7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1D07A-BFF7-4FF8-BF83-3E77E6DD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59325"/>
            <a:ext cx="10210800" cy="1184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Pediatric medication safety requires a current measured weight, verified units, a complete order, and policy-based calculation checks; never guess or borrow an adult dose.</a:t>
            </a:r>
          </a:p>
        </p:txBody>
      </p:sp>
    </p:spTree>
    <p:extLst>
      <p:ext uri="{BB962C8B-B14F-4D97-AF65-F5344CB8AC3E}">
        <p14:creationId xmlns:p14="http://schemas.microsoft.com/office/powerpoint/2010/main" val="13620798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C86917-710B-431E-9E11-8230AD32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PATHWAY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217E1-107A-4EB6-BCDF-13386ADB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Notice the cue, connect the risk, then choose the safest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C6BED-B5B8-4C19-A021-F679427B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D306B-0162-45ED-80AA-9225CBA7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52BB4-61E4-41B7-AEA3-4AE979A1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58894-F9A2-4A32-8E41-8CA3E46F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E227F-44FE-4978-A582-E1E95372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0529F-5BC4-435A-9E13-FA10DEF9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2D873-5EE7-4D57-B966-84F6E5B9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Escalate breathing difficulty, poor perfusion, altered responsiveness, or rapid decline immediately.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ED061-DB0B-4C8C-B83A-5202C185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339CC-D5F3-4C64-9F26-FA5937B4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3312B-DD83-478F-87E2-C5F86ABE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E5468-AFF7-4999-8C28-485B18EE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Hold a medication and clarify when weight, units, safe range, order, or calculation does not make sense.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D94756-399F-4A03-9FF3-3F9B0B99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F0971-491C-464D-8EFC-7FC8B627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4FC66-E04B-4500-9C33-D1A7C5BB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8C91D7-5856-4A20-A824-28B85229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Report caregiver concern about a meaningful change, even when one isolated measurement appears normal.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29929-B3C0-4D18-A21C-296E8430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68D50-0F77-4B7A-9A64-95A5FA20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09335F-05C0-4513-AD4C-5CCBE38D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E4B3E-3C79-435C-ADCB-35646E86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Use the pediatric response pathway and stay within assigned role during deterioration.</a:t>
            </a:r>
          </a:p>
        </p:txBody>
      </p:sp>
    </p:spTree>
    <p:extLst>
      <p:ext uri="{BB962C8B-B14F-4D97-AF65-F5344CB8AC3E}">
        <p14:creationId xmlns:p14="http://schemas.microsoft.com/office/powerpoint/2010/main" val="14004038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A25430-D46F-4A98-B324-FC0188ED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ASSESSMENT AND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C9582-4C83-44F2-9861-5830A27A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Trend the client, not a single number.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A62D7-75FB-4A8E-8F3A-D98C88E0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FA90F-5D20-44E5-9BE7-4B50ABA8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B3DCD-2013-4038-BDFB-A799CE65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22192-35D5-464F-BE1C-63DB825D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EB4C6-D435-4F19-9E4E-904C7512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2197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F8A42-D988-4225-A019-62DDB2CA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570"/>
                </a:solidFill>
              </a:defRPr>
            </a:pPr>
            <a:r>
              <a:rPr sz="1125" b="1">
                <a:solidFill>
                  <a:srgbClr val="168570"/>
                </a:solidFill>
              </a:rPr>
              <a:t>WHAT TO 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3E3A1-E3B9-4595-9EEF-215E3D86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F86CB-6E6D-4689-99E7-3232C2E3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64651-4A94-4046-92AF-374877BE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527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Observe first, then use the least invasive assessment before more upsetting steps when condition allows.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F743A-5774-4AF2-8AE9-350D2592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19BBD-A4EE-44ED-8157-AC77EFEA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D5697-FF30-4457-8ACB-9CB4CA44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Compare current behavior, breathing, circulation, hydration, pain, and elimination with caregiver report and prior findings.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BF377A-EC32-439D-99DB-CCA6FA81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D7D7E-47C5-42D8-AA1A-60C7A8AC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3A9D2-56CA-42D5-ABD3-75F0BE06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Use age-appropriate pain and communication tools, including caregiver input without replacing direct observation.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697A7-7D1A-4439-BAA8-338EE820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A3F221-2498-4807-8969-ED50D540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9427C8-7050-485E-9AEE-E4B349D5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Measure weight using approved equipment and record the exact unit before medication calculations.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14FA5-9A65-45F9-B1B5-874B813E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4673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9A4B3-FC4E-47BB-9ABE-88884A5F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455D"/>
                </a:solidFill>
              </a:defRPr>
            </a:pPr>
            <a:r>
              <a:rPr sz="1125" b="1">
                <a:solidFill>
                  <a:srgbClr val="C8455D"/>
                </a:solidFill>
              </a:rPr>
              <a:t>WHAT CAN HARM THE CLIENT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468A26-7764-4DF4-84A1-E872B17F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5048250" cy="1006475"/>
          </a:xfrm>
          <a:prstGeom xmlns:a="http://schemas.openxmlformats.org/drawingml/2006/main" prst="roundRect">
            <a:avLst>
              <a:gd name="adj" fmla="val 11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B233FD-3F60-45EC-BEEE-C361B2DB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6A0A79-7470-4BDE-9D8A-8A881896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4324350" cy="85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convert pounds and kilograms mentally when a verified tool and second check are required.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2FDDCF-1683-4D00-A159-2BB707AB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9650"/>
            <a:ext cx="5048250" cy="1006475"/>
          </a:xfrm>
          <a:prstGeom xmlns:a="http://schemas.openxmlformats.org/drawingml/2006/main" prst="roundRect">
            <a:avLst>
              <a:gd name="adj" fmla="val 11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7F0B27-D9BB-43AC-9C56-2A1E98F3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34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877ED-8C41-4301-936E-CD9A8FE4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44900"/>
            <a:ext cx="4324350" cy="85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Never assume a quiet child is improving; fatigue and reduced responsiveness may indicate deterioration.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CBD651-7C9A-49DE-8D69-22A90F26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41850"/>
            <a:ext cx="5048250" cy="1006475"/>
          </a:xfrm>
          <a:prstGeom xmlns:a="http://schemas.openxmlformats.org/drawingml/2006/main" prst="roundRect">
            <a:avLst>
              <a:gd name="adj" fmla="val 11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968697-6004-47A1-A0F3-265C0365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56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050C34-62CF-4AF8-ADD1-A5BDF666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37100"/>
            <a:ext cx="4324350" cy="85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force a child into a false choice or promise that a procedure will not hurt.</a:t>
            </a:r>
          </a:p>
        </p:txBody>
      </p:sp>
    </p:spTree>
    <p:extLst>
      <p:ext uri="{BB962C8B-B14F-4D97-AF65-F5344CB8AC3E}">
        <p14:creationId xmlns:p14="http://schemas.microsoft.com/office/powerpoint/2010/main" val="17668571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BA6BB8-54C1-4D13-AA5F-1C748A94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MEMORY THAT TRANSFERS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A0C22-C4F8-4E08-B06F-DEE987A7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Use the hook - then return to the clinical why.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BDEB8-7337-4A00-840C-2A1334B3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3C975-F0A8-4E89-9200-2D0D905F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F5CFC-3A0E-4905-8BD1-CAD5487C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PEDS: Pause and observe, Engage family, Development matters, Safety-check medicines.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C877B-FE50-4E49-B542-3C0818E9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D53C3-7712-44D6-8656-053FD8DD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5E914-04F0-4D17-9020-538BE62F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 quiet child may be calm or tired-look at breathing, color, tone, and response.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A7384-C2A7-47D9-81C7-1EE34F4F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6490F-8524-4C7E-A773-B3AD38C9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DCAE0-CB41-41B2-A2B0-DEB92A0E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Weight, units, range, device, double-check: five pediatric medication gates.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1202B-6795-4603-AF6E-037FCEBF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FA7B8"/>
                </a:solidFill>
              </a:defRPr>
            </a:pPr>
            <a:r>
              <a:rPr sz="825">
                <a:solidFill>
                  <a:srgbClr val="8FA7B8"/>
                </a:solidFill>
              </a:rPr>
              <a:t>Memory aids support recall; current clinical references and policy guide care.</a:t>
            </a:r>
          </a:p>
        </p:txBody>
      </p:sp>
    </p:spTree>
    <p:extLst>
      <p:ext uri="{BB962C8B-B14F-4D97-AF65-F5344CB8AC3E}">
        <p14:creationId xmlns:p14="http://schemas.microsoft.com/office/powerpoint/2010/main" val="20087494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3C3A71-E146-4F5A-8A11-2952D73D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CLINICAL JUDGMENT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FC82C-26D5-4942-A613-47B78ECA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A changing client turns facts into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05F09-843B-4370-86D2-303711D1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A2D6F-0B1D-420A-AA96-EE85DCC8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C43B4-1EFE-425C-A155-1096D3DF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27F51-4049-4575-8BB5-72B7D1EF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96B77-0E54-4754-972A-484484AC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34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A3594-8F15-4B83-834D-43D855B9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A caregiver says a preschooler is "just sleepy," but the nurse observes increasing retractions and less response to play.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6B445-14A2-4621-9F26-FE1FA2CF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C9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4D5A2-2EE8-47ED-995D-DCAB77C9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C9B5"/>
                </a:solidFill>
              </a:defRPr>
            </a:pPr>
            <a:r>
              <a:rPr sz="1125" b="1">
                <a:solidFill>
                  <a:srgbClr val="26C9B5"/>
                </a:solidFill>
              </a:rPr>
              <a:t>NOTICE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7EF90-360B-4ADC-B67B-04F75D2C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Increasing work of breathing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Reduced interaction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Change from usual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EC613-3293-46BF-8CF1-E031FA6C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6F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7CA50-0D8B-4B30-98E9-D98462B6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6FF2"/>
                </a:solidFill>
              </a:defRPr>
            </a:pPr>
            <a:r>
              <a:rPr sz="1125" b="1">
                <a:solidFill>
                  <a:srgbClr val="456FF2"/>
                </a:solidFill>
              </a:rPr>
              <a:t>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C91E0-D1BF-4C0D-A414-DBA7D939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Possible respiratory fatigue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The quiet behavior may not mean comfort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575BC-C12D-4A9D-B2D0-C054AC69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17C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E660C-4B78-41A6-A1EF-A1F33BB9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7C8E"/>
                </a:solidFill>
              </a:defRPr>
            </a:pPr>
            <a:r>
              <a:rPr sz="1125" b="1">
                <a:solidFill>
                  <a:srgbClr val="F17C8E"/>
                </a:solidFill>
              </a:rPr>
              <a:t>RESPOND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4BA7A-86A3-47BC-9DDF-5CB1A01E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Stay with the child and call for prompt evaluation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Assess airway, breathing, circulation, and focused vital signs within role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Prepare to assist the pediatric response process according to policy</a:t>
            </a:r>
          </a:p>
        </p:txBody>
      </p:sp>
    </p:spTree>
    <p:extLst>
      <p:ext uri="{BB962C8B-B14F-4D97-AF65-F5344CB8AC3E}">
        <p14:creationId xmlns:p14="http://schemas.microsoft.com/office/powerpoint/2010/main" val="17977307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AF830D-10E4-47AB-BF07-2D902BD1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PRACTICE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F8BD7-E14E-4ADB-9341-4E2BAEA2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Choose before you look at the rationale.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6903D-E485-4C86-9CB3-CFBD27D5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03D87-E81B-4E2E-A397-50085294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3A45C-65A8-4480-A82D-66E3D8E2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04EEA-B238-4E00-9E84-9B3165A0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1533E-4B64-4412-B025-4614C829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24B"/>
                </a:solidFill>
              </a:defRPr>
            </a:pPr>
            <a:r>
              <a:rPr sz="1875" b="1">
                <a:solidFill>
                  <a:srgbClr val="15324B"/>
                </a:solidFill>
              </a:rPr>
              <a:t>A preschooler with illness becomes quieter while retractions increase. What is the priority action?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4B9C8-8F39-4A71-A6ED-14FEDE32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F3641-BF94-4F4C-97AD-CB70E834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8D827-AC96-4F89-BBA2-1FEFDC7A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Stay with the child and escalate the breathing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F848C-2835-4584-B4A4-202DAC9B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A2533-90D3-412F-8471-5DE926EA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0D0CC-4669-4F4C-8748-98770B74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Assume the child is ready to sleep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DCA62-EEF2-4219-A856-6D924BB0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D92F7-3AA2-44A2-B83B-F44CAF37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788B2-17F2-4B10-BA86-F7D25BC3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Delay assessment until the caregiver leaves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C7963-981B-40D6-81BB-41332FDF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40D915-FB0A-46E7-A9FD-5B8E09D8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C834B-95E7-4DBB-A193-28D319FD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Offer a long teaching session</a:t>
            </a:r>
          </a:p>
        </p:txBody>
      </p:sp>
    </p:spTree>
    <p:extLst>
      <p:ext uri="{BB962C8B-B14F-4D97-AF65-F5344CB8AC3E}">
        <p14:creationId xmlns:p14="http://schemas.microsoft.com/office/powerpoint/2010/main" val="2998315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717D9F-8A01-4B8E-923E-1FF008CF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ANSWER AND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285EB-8233-4153-A4AC-218C1C25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The answer is A. Now make the reasoning reusable.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093AB-CF3B-4EAF-8B1E-A9CC9D57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52308-00C0-4A14-AC62-D7535345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B625F-6864-49C1-AD2E-729FDEC4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4278C-375B-4CE5-8AA3-39864A6A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871B8-086D-4FCF-B79B-01DE1404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9347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6EDCF-8251-4838-A45C-23A8F9A2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Increasing work of breathing plus reduced interaction may indicate fatigue and deterioration, requiring immediate assessment and help.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2C823-2633-496F-BD69-2A19ADCA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5238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B04CF-4DF9-470E-87C8-A8BE1FA6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CONCEPT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A2855-ED42-4EB9-95A1-668BE551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Pediatric breathing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BF52-CD79-48F3-8910-E7D273DF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4673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5D8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893E4-FF4E-4BA3-A755-5506E10F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43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6513"/>
                </a:solidFill>
              </a:defRPr>
            </a:pPr>
            <a:r>
              <a:rPr sz="1050" b="1">
                <a:solidFill>
                  <a:srgbClr val="A76513"/>
                </a:solidFill>
              </a:rPr>
              <a:t>TEST-TAKING CLUE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1BE51-CC7D-4E25-896C-3AE07FED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148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Do not confuse quiet with stable when work of breathing is increasing.</a:t>
            </a:r>
          </a:p>
        </p:txBody>
      </p:sp>
    </p:spTree>
    <p:extLst>
      <p:ext uri="{BB962C8B-B14F-4D97-AF65-F5344CB8AC3E}">
        <p14:creationId xmlns:p14="http://schemas.microsoft.com/office/powerpoint/2010/main" val="20654786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447181-B147-4161-A60A-D4373BD7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TAKE IT WITH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8E5AD-2E1F-4033-A9EC-ED37E71C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Five things worth remembering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052AD-0F13-45C5-A9E5-67832FEE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D6BAB-71FF-4AF1-BB06-0302713B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647C6-304B-4B02-BF11-C2BAF2F9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Interpret findings through age, development, trend, and baseline.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13A20-2432-4425-84D4-7BAE0B8D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86075"/>
            <a:ext cx="1093470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EAC7B-FE3D-4145-91C4-06AADE1C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42405-5AD4-41BA-AC92-886DE74F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81325"/>
            <a:ext cx="10210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Observe the child directly and treat increased breathing effort or decreased responsiveness as urgent.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73DB8-B34C-4B68-8352-20826741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1093470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84DAD-C9F5-43AF-B3EB-D1239C21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45345-E4A2-4655-A5F2-35746EB1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05275"/>
            <a:ext cx="10210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Use verified weight, units, reference ranges, and required independent checks for medicines.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2188A-903B-495D-8C5F-AC11BD06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FC3D1"/>
                </a:solidFill>
              </a:defRPr>
            </a:pPr>
            <a:r>
              <a:rPr sz="1050">
                <a:solidFill>
                  <a:srgbClr val="AFC3D1"/>
                </a:solidFill>
              </a:rPr>
              <a:t>Reviewed 2026-07-13. Independent educational study aid. Verify current clinical references, instructor direction, scope, orders, manufacturer instructions, and facility policy.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EF574-9301-43B5-BC80-FB57178E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F99AB"/>
                </a:solidFill>
              </a:defRPr>
            </a:pPr>
            <a:r>
              <a:rPr sz="750">
                <a:solidFill>
                  <a:srgbClr val="7F99AB"/>
                </a:solidFill>
              </a:rPr>
              <a:t>National Council of State Boards of Nursing: 2026 NCLEX-PN Test Plan | U.S. Food and Drug Administration: Medication Errors Related to CDER-Regulated Drug Products | MedlinePlus, U.S. National Library of Medicine: Vital signs</a:t>
            </a:r>
          </a:p>
        </p:txBody>
      </p:sp>
    </p:spTree>
    <p:extLst>
      <p:ext uri="{BB962C8B-B14F-4D97-AF65-F5344CB8AC3E}">
        <p14:creationId xmlns:p14="http://schemas.microsoft.com/office/powerpoint/2010/main" val="201149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2026-07-13T19:10:57.2260000Z</dcterms:created>
  <dcterms:modified xsi:type="dcterms:W3CDTF">2026-07-13T19:10:57.2260000Z</dcterms:modified>
</coreProperties>
</file>