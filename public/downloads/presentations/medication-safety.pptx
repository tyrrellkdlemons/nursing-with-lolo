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180a08cc854c3c" /><Relationship Type="http://schemas.openxmlformats.org/officeDocument/2006/relationships/extended-properties" Target="/docProps/app.xml" Id="R18eb4e53af3a492e" /><Relationship Type="http://schemas.openxmlformats.org/officeDocument/2006/relationships/officeDocument" Target="/ppt/presentation.xml" Id="R6bb790a101dc45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b2db669bcc48f0"/>
  </p:sldMasterIdLst>
  <p:notesMasterIdLst>
    <p:notesMasterId xmlns:r="http://schemas.openxmlformats.org/officeDocument/2006/relationships" r:id="R76bdc67c9a954585"/>
  </p:notesMasterIdLst>
  <p:sldIdLst>
    <p:sldId xmlns:r="http://schemas.openxmlformats.org/officeDocument/2006/relationships" id="256" r:id="Rbc36d60837fc4590"/>
    <p:sldId xmlns:r="http://schemas.openxmlformats.org/officeDocument/2006/relationships" id="257" r:id="Rc9725baeec714ff7"/>
    <p:sldId xmlns:r="http://schemas.openxmlformats.org/officeDocument/2006/relationships" id="258" r:id="R7f3116a024684e01"/>
    <p:sldId xmlns:r="http://schemas.openxmlformats.org/officeDocument/2006/relationships" id="259" r:id="R57d25d81e97243f0"/>
    <p:sldId xmlns:r="http://schemas.openxmlformats.org/officeDocument/2006/relationships" id="260" r:id="R4083c6d088be47b1"/>
    <p:sldId xmlns:r="http://schemas.openxmlformats.org/officeDocument/2006/relationships" id="261" r:id="R8a14337c16cb4a3b"/>
    <p:sldId xmlns:r="http://schemas.openxmlformats.org/officeDocument/2006/relationships" id="262" r:id="R7965ee46f1f4462c"/>
    <p:sldId xmlns:r="http://schemas.openxmlformats.org/officeDocument/2006/relationships" id="263" r:id="R726f7505be174e2e"/>
    <p:sldId xmlns:r="http://schemas.openxmlformats.org/officeDocument/2006/relationships" id="264" r:id="Re87812a5367045dc"/>
    <p:sldId xmlns:r="http://schemas.openxmlformats.org/officeDocument/2006/relationships" id="265" r:id="R7092611ab68240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8aec50c7f5417a" /><Relationship Type="http://schemas.openxmlformats.org/officeDocument/2006/relationships/slideMaster" Target="/ppt/slideMasters/slideMaster1.xml" Id="R60b2db669bcc48f0" /><Relationship Type="http://schemas.openxmlformats.org/officeDocument/2006/relationships/notesMaster" Target="/ppt/notesMasters/notesMaster1.xml" Id="R76bdc67c9a954585" /><Relationship Type="http://schemas.openxmlformats.org/officeDocument/2006/relationships/presProps" Target="/ppt/presProps.xml" Id="Rbe9d99fa7f144b0d" /><Relationship Type="http://schemas.openxmlformats.org/officeDocument/2006/relationships/tableStyles" Target="/ppt/tableStyles.xml" Id="R48cbeb09a28d45c3" /><Relationship Type="http://schemas.openxmlformats.org/officeDocument/2006/relationships/slide" Target="/ppt/slides/slide1.xml" Id="Rbc36d60837fc4590" /><Relationship Type="http://schemas.openxmlformats.org/officeDocument/2006/relationships/slide" Target="/ppt/slides/slide2.xml" Id="Rc9725baeec714ff7" /><Relationship Type="http://schemas.openxmlformats.org/officeDocument/2006/relationships/slide" Target="/ppt/slides/slide3.xml" Id="R7f3116a024684e01" /><Relationship Type="http://schemas.openxmlformats.org/officeDocument/2006/relationships/slide" Target="/ppt/slides/slide4.xml" Id="R57d25d81e97243f0" /><Relationship Type="http://schemas.openxmlformats.org/officeDocument/2006/relationships/slide" Target="/ppt/slides/slide5.xml" Id="R4083c6d088be47b1" /><Relationship Type="http://schemas.openxmlformats.org/officeDocument/2006/relationships/slide" Target="/ppt/slides/slide6.xml" Id="R8a14337c16cb4a3b" /><Relationship Type="http://schemas.openxmlformats.org/officeDocument/2006/relationships/slide" Target="/ppt/slides/slide7.xml" Id="R7965ee46f1f4462c" /><Relationship Type="http://schemas.openxmlformats.org/officeDocument/2006/relationships/slide" Target="/ppt/slides/slide8.xml" Id="R726f7505be174e2e" /><Relationship Type="http://schemas.openxmlformats.org/officeDocument/2006/relationships/slide" Target="/ppt/slides/slide9.xml" Id="Re87812a5367045dc" /><Relationship Type="http://schemas.openxmlformats.org/officeDocument/2006/relationships/slide" Target="/ppt/slides/slide10.xml" Id="R7092611ab68240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c820c961274f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9684b35ce04d97" /><Relationship Type="http://schemas.openxmlformats.org/officeDocument/2006/relationships/notesMaster" Target="/ppt/notesMasters/notesMaster1.xml" Id="Rc06a6e5943764b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633e99d89b4d5c" /><Relationship Type="http://schemas.openxmlformats.org/officeDocument/2006/relationships/notesMaster" Target="/ppt/notesMasters/notesMaster1.xml" Id="Rc27765fe531645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67e251ea2c44c8" /><Relationship Type="http://schemas.openxmlformats.org/officeDocument/2006/relationships/notesMaster" Target="/ppt/notesMasters/notesMaster1.xml" Id="R8f3152dce1774d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475c93e79647e7" /><Relationship Type="http://schemas.openxmlformats.org/officeDocument/2006/relationships/notesMaster" Target="/ppt/notesMasters/notesMaster1.xml" Id="Rb79c81d4b2fe4e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724209cf044089" /><Relationship Type="http://schemas.openxmlformats.org/officeDocument/2006/relationships/notesMaster" Target="/ppt/notesMasters/notesMaster1.xml" Id="Rfc04382841ad43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44c24d2849424c" /><Relationship Type="http://schemas.openxmlformats.org/officeDocument/2006/relationships/notesMaster" Target="/ppt/notesMasters/notesMaster1.xml" Id="R38b32d732c9046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cd18abf7e347f2" /><Relationship Type="http://schemas.openxmlformats.org/officeDocument/2006/relationships/notesMaster" Target="/ppt/notesMasters/notesMaster1.xml" Id="Rbf7c2281505244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a233f83e2e4b86" /><Relationship Type="http://schemas.openxmlformats.org/officeDocument/2006/relationships/notesMaster" Target="/ppt/notesMasters/notesMaster1.xml" Id="R5df9c9dfa6df43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537a111c1b4239" /><Relationship Type="http://schemas.openxmlformats.org/officeDocument/2006/relationships/notesMaster" Target="/ppt/notesMasters/notesMaster1.xml" Id="R171f1a33714144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2da4de0b19414e" /><Relationship Type="http://schemas.openxmlformats.org/officeDocument/2006/relationships/notesMaster" Target="/ppt/notesMasters/notesMaster1.xml" Id="Rb270d00f01bc48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37021bdd549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748926ec254a9f" /><Relationship Type="http://schemas.openxmlformats.org/officeDocument/2006/relationships/slideLayout" Target="/ppt/slideLayouts/slideLayout1.xml" Id="R06ef67e98fb24e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ef67e98fb24e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60f4a9b084a41" /><Relationship Type="http://schemas.openxmlformats.org/officeDocument/2006/relationships/notesSlide" Target="/ppt/notesSlides/notesSlide1.xml" Id="R9dc8a00561c244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c81afb6974f8f" /><Relationship Type="http://schemas.openxmlformats.org/officeDocument/2006/relationships/notesSlide" Target="/ppt/notesSlides/notesSlide2.xml" Id="R1d8a13db7bb24c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55ce8208f4344" /><Relationship Type="http://schemas.openxmlformats.org/officeDocument/2006/relationships/notesSlide" Target="/ppt/notesSlides/notesSlide3.xml" Id="Ref7019c694c744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937a277254977" /><Relationship Type="http://schemas.openxmlformats.org/officeDocument/2006/relationships/notesSlide" Target="/ppt/notesSlides/notesSlide4.xml" Id="Rb162f4639d8143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82176ca7848f7" /><Relationship Type="http://schemas.openxmlformats.org/officeDocument/2006/relationships/notesSlide" Target="/ppt/notesSlides/notesSlide5.xml" Id="Rc6f07d33fad54f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ee68cd06d47e7" /><Relationship Type="http://schemas.openxmlformats.org/officeDocument/2006/relationships/notesSlide" Target="/ppt/notesSlides/notesSlide6.xml" Id="R48b2ae6fd8874a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5c547ecaa4ed0" /><Relationship Type="http://schemas.openxmlformats.org/officeDocument/2006/relationships/notesSlide" Target="/ppt/notesSlides/notesSlide7.xml" Id="Rb10e26b5972c41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5338919ef4d8d" /><Relationship Type="http://schemas.openxmlformats.org/officeDocument/2006/relationships/notesSlide" Target="/ppt/notesSlides/notesSlide8.xml" Id="R30a8f220cd8b47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bb88323aa4b81" /><Relationship Type="http://schemas.openxmlformats.org/officeDocument/2006/relationships/notesSlide" Target="/ppt/notesSlides/notesSlide9.xml" Id="R8f8a0cb61ec743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93ec3861043d6" /><Relationship Type="http://schemas.openxmlformats.org/officeDocument/2006/relationships/notesSlide" Target="/ppt/notesSlides/notesSlide10.xml" Id="Ree499912b4a946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E79DA1-02B0-4ECC-AD74-2BBA15D4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0FF03-5EF6-47C1-84C2-84BCFE2B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C9B5"/>
                </a:solidFill>
              </a:defRPr>
            </a:pPr>
            <a:r>
              <a:rPr sz="1200" b="1">
                <a:solidFill>
                  <a:srgbClr val="26C9B5"/>
                </a:solidFill>
              </a:rPr>
              <a:t>NURSING WITH LOLO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37A7F-1060-458B-B7E1-7D942BFE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781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Medication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4D2DA-22AD-40BC-9539-70B2C441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4D6E3"/>
                </a:solidFill>
              </a:defRPr>
            </a:pPr>
            <a:r>
              <a:rPr sz="1725">
                <a:solidFill>
                  <a:srgbClr val="C4D6E3"/>
                </a:solidFill>
              </a:rPr>
              <a:t>The medication-use process, error prevention, high-alert checks, and teach-back.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C298D-BD56-4730-9905-4CD0112C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1A9BB"/>
                </a:solidFill>
              </a:defRPr>
            </a:pPr>
            <a:r>
              <a:rPr sz="1275" b="1">
                <a:solidFill>
                  <a:srgbClr val="91A9BB"/>
                </a:solidFill>
              </a:rPr>
              <a:t>Simple explanations - nursing priorities - original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60CE1-8728-4A9E-B9A1-F0862A12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143000"/>
            <a:ext cx="1762125" cy="1762125"/>
          </a:xfrm>
          <a:prstGeom xmlns:a="http://schemas.openxmlformats.org/drawingml/2006/main" prst="roundRect">
            <a:avLst>
              <a:gd name="adj" fmla="val 12973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3CE7F-B3B3-4445-BDC3-09B9D359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00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6C9B5"/>
                </a:solidFill>
              </a:defRPr>
            </a:pPr>
            <a:r>
              <a:rPr sz="3600" b="1">
                <a:solidFill>
                  <a:srgbClr val="26C9B5"/>
                </a:solidFill>
              </a:rPr>
              <a:t>LOLO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20444-A3EE-458D-89FC-0B2235E5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622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STUDY EDITION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39977-A637-47FE-B9CD-FA0C5098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29BAD"/>
                </a:solidFill>
              </a:defRPr>
            </a:pPr>
            <a:r>
              <a:rPr sz="825">
                <a:solidFill>
                  <a:srgbClr val="829BAD"/>
                </a:solidFill>
              </a:rPr>
              <a:t>Independent study aid - verify current clinical policy</a:t>
            </a:r>
          </a:p>
        </p:txBody>
      </p:sp>
    </p:spTree>
    <p:extLst>
      <p:ext uri="{BB962C8B-B14F-4D97-AF65-F5344CB8AC3E}">
        <p14:creationId xmlns:p14="http://schemas.microsoft.com/office/powerpoint/2010/main" val="5249552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6F07A1-D3ED-41EF-96D9-B78E11AF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CA9C2-4733-495B-A6F7-2A772859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By the end, you can...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05885-D2A6-40C6-87FC-5621A644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2370B-4EED-4358-A3F0-C012DE15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6F90C-AAFA-481F-9F5A-9CE900B2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60767-6859-478D-8F56-EF25F933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52FAD-C26E-49A1-B622-B3742F75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4F8FE-A455-47ED-9679-4AFA38DF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15DC1-3F79-4FC3-8FFC-4E610651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Use a consistent safety process from order review through evaluation.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D7762-0C71-4643-8481-2D3D1545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2710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E4734-3BBF-4543-B187-EC5FD2DC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653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5FD60-76A7-4D1B-AB1B-03E4E11B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7960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Respond appropriately to discrepancies, allergies, refusal, and potential errors.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4F2ED-D330-48B9-B00C-EFDD203C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329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7121D-3BF5-4106-BD8B-FF8E899F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712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15A38-AF5F-4D91-8AD6-F4C77E50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9854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Explain why technology supports but does not replace nursing judgment.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F226F-4BC8-473D-AD24-C3D8BB4B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73880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A8AA7-2B4B-442B-B567-AB949B6D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770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4BC3E-5990-45EF-9B4A-7204C98C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69130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Organize common medication classes by purpose, assessment, and safety risk.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BAA9F-2D9E-4D43-9F7B-73E4529C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446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F4753-7899-4CEF-822A-81587DDE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6829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169389-7752-4A98-9083-4F2A339E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971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Use a consistent pre-administration and follow-up check.</a:t>
            </a:r>
          </a:p>
        </p:txBody>
      </p:sp>
    </p:spTree>
    <p:extLst>
      <p:ext uri="{BB962C8B-B14F-4D97-AF65-F5344CB8AC3E}">
        <p14:creationId xmlns:p14="http://schemas.microsoft.com/office/powerpoint/2010/main" val="11786363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A085D2-E269-4A18-AFAC-D914D9CF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EXPLAIN IT SIMPLY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5E4E1-D22C-46D0-81F6-A0E7E4F8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Start with the story that makes the details stick.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60353-B549-40D0-ACB7-4AC052D3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3A15F-1656-4806-B9F7-95E9CAC6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EC7E5-C66F-4CE2-87E0-4A7EE81C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520EA-B6A9-4108-9D6C-3080C5B7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F5575-7D60-4EE0-81A3-2A7B9BFA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EDC80-9D90-4FFC-AF1D-8355E498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A3DC3-9F6F-4D36-B251-2DD8C65D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Safe administration starts before the medication reaches the bedside. The nurse checks the order, current medication record, patient factors, allergies, product, timing, route, indication, and required assessments.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79F13-F29E-4C44-B495-63010777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0356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8D3F6-A8F3-44B4-B254-91D1B0E9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4181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37663-8095-4CA5-8CAA-5FC76A63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5606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At the bedside, use approved identifiers, explain the medication, verify the current record, and protect the process from interruptions. Never force a match when the label, record, patient, or scan disagrees.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6178A-FD58-4104-9067-AFCDFDC9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8588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CD242-1797-44B8-A07F-92DB4045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2413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CC6CE-DEED-434D-8FA0-69DC62D5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3838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After administration, document accurately and evaluate the intended effect, adverse effects, and patient concerns at an appropriate time.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63940-385F-402A-BBDD-017EE6BA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6819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5F07A-F856-4B4A-9140-EB4CC699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0644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C47D99-1B3E-41FA-9FA0-FF12F97B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2069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For every medication, ask five questions: Why is it given? What must I check first? What effect should occur? What could become dangerous? What must the patient know?</a:t>
            </a:r>
          </a:p>
        </p:txBody>
      </p:sp>
    </p:spTree>
    <p:extLst>
      <p:ext uri="{BB962C8B-B14F-4D97-AF65-F5344CB8AC3E}">
        <p14:creationId xmlns:p14="http://schemas.microsoft.com/office/powerpoint/2010/main" val="1367067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88980F-6278-4B5B-BC0E-17A304BA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PATHWAY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7C46F-5343-45E8-9B52-C247AE0A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Notice the cue, connect the risk, then choose the safest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DC58E-DA83-4996-BD38-03F4797D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C6031-3FF5-4825-AE31-05FCA0D9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7A467-91B6-4E2A-91E7-00445D47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037CF-D8A2-499E-AA88-449F4040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36F62-1B48-4CE4-9FE8-9D43D40A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F3F47-65F9-41F7-AFBD-57711FA6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694F5-E3CC-49E5-8F18-A7AA849B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Stop before administration whenever the order, record, product, patient, route, or assessment does not agree.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DE601-A4FC-4A9A-8C60-11AE69BC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E5934-CA16-4D99-A632-9164CE21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CFF52-84D5-4898-85D9-CDB8E107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993F8-E053-4087-82AA-4AE34289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For a suspected acute reaction, assess airway, breathing, circulation, stop the implicated administration when safe, and activate the response pathway.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2F379-3857-4723-8C81-CFD2DF78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3C9CF-49E1-46FE-BB71-417E6D8A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ECB26-5ED8-444A-9834-BE186A67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5F51C-8A34-458E-9707-283CBF91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If an error reaches the patient, assess the patient first, then notify, treat, disclose, document, and report according to policy and role.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243CF-479B-4856-84DC-8D9AF3D1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3A0AC-1B78-46E8-81F5-20A79948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25DA0-365B-4AC8-AD25-FEF3143D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4CABBB-D0A4-43CD-B511-E4F63E32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Quarantine or report a defective, expired, mislabeled, or questionable product through the approved process.</a:t>
            </a:r>
          </a:p>
        </p:txBody>
      </p:sp>
    </p:spTree>
    <p:extLst>
      <p:ext uri="{BB962C8B-B14F-4D97-AF65-F5344CB8AC3E}">
        <p14:creationId xmlns:p14="http://schemas.microsoft.com/office/powerpoint/2010/main" val="4361291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E3F533-910B-42C5-B619-3254CC06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ASSESSMENT AND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868F3-7580-4C86-B821-490A5132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Trend the client, not a single number.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B3C6E-6A02-4C4A-A4B8-8DA10478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7042D-854E-45BD-8E72-4AC96A73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AEF9C-B5C1-4899-A5C5-3A90B07A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AB4D6-ABEC-430D-8FD0-366ACBC2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7F69B-9ED9-46D7-B80A-A3F95F1D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2197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23F86-D374-4B39-B659-741CEEA5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570"/>
                </a:solidFill>
              </a:defRPr>
            </a:pPr>
            <a:r>
              <a:rPr sz="1125" b="1">
                <a:solidFill>
                  <a:srgbClr val="168570"/>
                </a:solidFill>
              </a:rPr>
              <a:t>WHAT TO 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1E0DA-C307-4B25-BBDC-FACDBBDF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11646-04AC-4F96-B1AC-96782328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FA069-1FD4-4560-AC3D-8F776231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527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Review the complete current order, medication record, allergies and reactions, indication, and relevant history.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D4A58-1941-4B86-B684-2AA47D10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A97A2-12C8-46BC-8AE4-E3557D6A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9D44C-F52A-49C7-A09A-003FE527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Identify required vital signs, pain, alertness, swallowing, laboratory values, or other patient-specific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ADD77-1913-4F72-9EE5-57182254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BD885-C906-4A17-8D51-07909EBE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96984-0D22-4D7D-A650-21609796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Compare the product label with the current record at the required checkpoints.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9E30E-6BE4-4615-81DB-2009B774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4D03C-FCCF-4887-AC3E-1CA544CB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18DD99-C610-4D70-ABCF-71F3C6F6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Ask about prior response, current symptoms, and the patient's questions before administration.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68DA5-BD7F-4F22-9733-DEDF7451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4673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A0CC9-372F-414F-A04D-71AF69B9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455D"/>
                </a:solidFill>
              </a:defRPr>
            </a:pPr>
            <a:r>
              <a:rPr sz="1125" b="1">
                <a:solidFill>
                  <a:srgbClr val="C8455D"/>
                </a:solidFill>
              </a:rPr>
              <a:t>WHAT CAN HARM THE CLIENT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D8773C-D8C5-4700-95C6-584DA5DE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9744F6-5594-4153-8A9A-3E48D713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DDDF21-DEE0-4D7E-987D-500228C0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Never bypass an allergy, barcode, pump, calculation, or identity alert without resolving the reason.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C9CCC0-D2FE-4645-9496-45B75076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C96807-6483-4B09-B3BF-AE6EAEC0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4DF89F-CD65-48FC-B71E-26D2BD65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document administration before the patient has actually received the medication.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9030AE-6D0A-44B0-94A9-C02F4D9C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A9CA5E-5E63-4A9E-8FE6-F98A7D30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E741CC-141B-44E2-8A5F-81D86B24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leave medications unsecured or at the bedside unless specifically authorized and assessed as safe.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F4C178-4DBD-49AB-BD83-A0488D5B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149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38D543-CEC1-4089-81E1-26B1FA48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554382-DA80-44EB-9A59-009D3D76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101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A drug-name suffix is a study clue, not proof of class, indication, or safety.</a:t>
            </a:r>
          </a:p>
        </p:txBody>
      </p:sp>
    </p:spTree>
    <p:extLst>
      <p:ext uri="{BB962C8B-B14F-4D97-AF65-F5344CB8AC3E}">
        <p14:creationId xmlns:p14="http://schemas.microsoft.com/office/powerpoint/2010/main" val="14203841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01DB22-19D6-4596-9E6C-84E33F32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MEMORY THAT TRANSFERS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8193C-D802-4A9B-A133-7D5E1DDC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Use the hook - then return to the clinical why.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ED0C8-A2D7-4F23-9B6E-97D70EE9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2C6D4-D85A-4B2F-85C3-71AC9903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5B8EF-3D76-45C3-98F5-B02DBDA4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STOP at mismatch: Suspend, Trace, Obtain clarification, Proceed only when resolved.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F1717-3C7D-4494-82F5-00B0F7D1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B194A-4CE2-4F96-B7E0-17FEBD74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3757E-7B59-419A-AB32-7D340E18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Medication loop: verify -&gt; assess -&gt; explain -&gt; administer -&gt; evaluate.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78AE8-FC31-408F-88F3-DF131A01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8F426-F4E4-4483-ACFC-EC6191EE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3B8C7-BF7A-4691-9A10-4313C7FF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 scan is a safety net, not the whole safety process.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3E118-B002-4405-B26C-DF9ABF34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AA804-2414-4E73-A75E-12DD104E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13987-4CFE-4EE7-9680-8041AC19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CLASS: Check first, Link purpose, Assess response, Spot danger, Share teaching.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1E363-838A-45B2-8576-3AEE6FFF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FA7B8"/>
                </a:solidFill>
              </a:defRPr>
            </a:pPr>
            <a:r>
              <a:rPr sz="825">
                <a:solidFill>
                  <a:srgbClr val="8FA7B8"/>
                </a:solidFill>
              </a:rPr>
              <a:t>Memory aids support recall; current clinical references and policy guide care.</a:t>
            </a:r>
          </a:p>
        </p:txBody>
      </p:sp>
    </p:spTree>
    <p:extLst>
      <p:ext uri="{BB962C8B-B14F-4D97-AF65-F5344CB8AC3E}">
        <p14:creationId xmlns:p14="http://schemas.microsoft.com/office/powerpoint/2010/main" val="8614689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DC3E1A-E87D-4917-A9B7-52F52037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CLINICAL JUDGMENT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0F31D-963E-469A-9C9B-0FEF46FE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A changing client turns facts into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5CEC0-83FA-4B1D-B99A-F2BD791F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44635-291B-4951-993D-2EE520C5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449E9-0927-4DCB-904B-8804B185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ABDF6-0FA3-4695-A296-F7D691BE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ED259-ACCF-49B4-A248-850050C4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34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727CB-AE00-4948-A710-044FE834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At the bedside, the barcode system warns that the selected medication does not match the active record.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88D1B-A666-4F2A-86CA-05CEB9EA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C9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4DCE7-6B0B-4EED-BEE0-145EAA94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C9B5"/>
                </a:solidFill>
              </a:defRPr>
            </a:pPr>
            <a:r>
              <a:rPr sz="1125" b="1">
                <a:solidFill>
                  <a:srgbClr val="26C9B5"/>
                </a:solidFill>
              </a:rPr>
              <a:t>NOTICE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B7BC2-AB67-44F3-B0DE-7FF39200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Technology mismatch alert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Medication has not been administered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Label and record require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011F4-6C9E-405F-A555-2C2923D4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6F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24206-BFFD-4F5B-A5CC-79AE160B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6FF2"/>
                </a:solidFill>
              </a:defRPr>
            </a:pPr>
            <a:r>
              <a:rPr sz="1125" b="1">
                <a:solidFill>
                  <a:srgbClr val="456FF2"/>
                </a:solidFill>
              </a:rPr>
              <a:t>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85FA2-AA64-4750-85FE-58B4676D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The discrepancy may represent a selection, order, timing, or system problem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Bypassing the alert could cause harm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02B37-258D-4577-BE04-DCD2350C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17C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B520D-CF34-4862-B2E7-809480F3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7C8E"/>
                </a:solidFill>
              </a:defRPr>
            </a:pPr>
            <a:r>
              <a:rPr sz="1125" b="1">
                <a:solidFill>
                  <a:srgbClr val="F17C8E"/>
                </a:solidFill>
              </a:rPr>
              <a:t>RESPOND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728F1-2AF2-4C2F-9117-860D09E8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Stop and keep the medication separate from administration.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Recheck identifiers, order, record, label, timing, and patient-specific assessment.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Resolve the discrepancy with pharmacy or the authorized clinician before proceeding and report system issues as required.</a:t>
            </a:r>
          </a:p>
        </p:txBody>
      </p:sp>
    </p:spTree>
    <p:extLst>
      <p:ext uri="{BB962C8B-B14F-4D97-AF65-F5344CB8AC3E}">
        <p14:creationId xmlns:p14="http://schemas.microsoft.com/office/powerpoint/2010/main" val="1890553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8A82AB-547D-453F-92D7-7FDF8847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PRACTICE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BCA7E-EFB0-4447-A017-2C2678D1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Choose before you look at the rationale.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C933D-D52A-4221-8F56-4BB6F9ED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DB8A4-D5F1-4950-B9CE-8ADD36E2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17837-087A-4CF8-98AB-96585545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0A5E3-C513-47BE-A09E-3FD01C4A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87F4D-0DEC-4356-88ED-87A236D6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24B"/>
                </a:solidFill>
              </a:defRPr>
            </a:pPr>
            <a:r>
              <a:rPr sz="1875" b="1">
                <a:solidFill>
                  <a:srgbClr val="15324B"/>
                </a:solidFill>
              </a:rPr>
              <a:t>The medication label does not match the active medication record. What should the nurse do?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D5890-B95F-4F55-9F6B-18B16A2D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075A5-40F1-4A46-B203-6D546D04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93BEB-3003-4918-BD30-1747ED99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Hold the medication and resolve the discrepancy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74B98-D336-4FF3-BF35-8B61BDDB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C08B4-6DED-4690-8710-1C33E2E3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2BDA0-8681-4AF6-A1D5-656F6EBA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Give it because it is already prepared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9EC66-2BAF-4104-AF57-D3B7E934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40C15-2D63-45C6-9A93-6FCA5D3C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D52A4-7D0A-46C4-8C9F-2898EF6F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Change the record to match the label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D9ACC3-1513-48F9-8723-BAE0B3DF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8D6F9F-8AFA-4565-9C4F-16C260FE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53E93-24EB-45BA-9E4A-FF7376A7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Ask the patient to decide whether it is correct</a:t>
            </a:r>
          </a:p>
        </p:txBody>
      </p:sp>
    </p:spTree>
    <p:extLst>
      <p:ext uri="{BB962C8B-B14F-4D97-AF65-F5344CB8AC3E}">
        <p14:creationId xmlns:p14="http://schemas.microsoft.com/office/powerpoint/2010/main" val="17860437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4D8B40-FA8D-4563-883B-BE953571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ANSWER AND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C4266-D8A8-449C-A8F3-BEDC4AF7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The answer is A. Now make the reasoning reusable.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F622E-1244-460D-931B-5C14FB54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0D3F9-4E93-4429-92BB-B32D5E8D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96890-5FA7-4354-B162-EE4F84F3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2F7A5-A37C-47F7-970C-7F464401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4ED56-D44D-4B87-AEE2-810BABFB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9347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4524A-8B58-47ED-ABE1-98C972D6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A mismatch must be clarified before administration to prevent error.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6A238-E741-46D8-9461-A18CA7B8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5238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9DEB8-5863-4863-9BC7-7B01F2FB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CONCEPT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ACE14-136F-4BEC-AEF3-7FE9EA44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Medication discrepancy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048F8-6D5D-462D-AD8A-09591678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4673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5D8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33B13-EEC4-4E45-B537-66DD7E44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43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6513"/>
                </a:solidFill>
              </a:defRPr>
            </a:pPr>
            <a:r>
              <a:rPr sz="1050" b="1">
                <a:solidFill>
                  <a:srgbClr val="A76513"/>
                </a:solidFill>
              </a:rPr>
              <a:t>TEST-TAKING CLUE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DF42F-08B6-4957-8A80-EAB6A014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148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Mismatch means stop, not improvise.</a:t>
            </a:r>
          </a:p>
        </p:txBody>
      </p:sp>
    </p:spTree>
    <p:extLst>
      <p:ext uri="{BB962C8B-B14F-4D97-AF65-F5344CB8AC3E}">
        <p14:creationId xmlns:p14="http://schemas.microsoft.com/office/powerpoint/2010/main" val="21245621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06A38F-8BED-4A2D-8A77-A4D31358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TAKE IT WITH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DD2EB-BBCA-4417-9A3C-C9377AAD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Five things worth remembering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D66B5-54BB-433E-BFE3-E7C83319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4D8EE-F8D5-441F-891B-D066DE41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B0CBA-8897-4EBD-90AB-77D55CE9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Use a consistent verify-assess-explain-administer-evaluate process.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68B43-BBF1-452F-9F62-1287375C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649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5CBD0-0C30-4F80-9FFC-0F535BEA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032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2087A-DA51-431F-B191-727282E0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174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Stop and resolve any mismatch before medication reaches the patient.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33945-F80E-4DC6-82CC-91F3AD18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086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E3597-7581-4802-91CC-1D63A4A5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469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0A416-9E08-4C6F-A37F-613DB9A6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611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If harm may have occurred, assess the patient first and follow the response pathway.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85BA8-1B66-4967-93A2-C337F3A2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523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3FD01-79F5-4237-88A6-4A4F9401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906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43F60-2E4E-42F2-9AD8-90389B69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048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Learn classes through purpose, checks, expected response, danger pattern, and teaching.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333BA-0AE3-4248-91E5-5A412E50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960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FB215-8CAB-4E7F-85FB-2F024C11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8343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B05415-3402-454D-A2BA-B17DC8A8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485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Hold and clarify when the order or current assessment is unsafe or incomplete.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D95D4-F64D-4F09-A9AE-D834B6D9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FC3D1"/>
                </a:solidFill>
              </a:defRPr>
            </a:pPr>
            <a:r>
              <a:rPr sz="1050">
                <a:solidFill>
                  <a:srgbClr val="AFC3D1"/>
                </a:solidFill>
              </a:rPr>
              <a:t>Reviewed 2026-07-13. Independent educational study aid. Verify current clinical references, instructor direction, scope, orders, manufacturer instructions, and facility policy.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87A8D3-B760-4406-A13F-F465BF4B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F99AB"/>
                </a:solidFill>
              </a:defRPr>
            </a:pPr>
            <a:r>
              <a:rPr sz="750">
                <a:solidFill>
                  <a:srgbClr val="7F99AB"/>
                </a:solidFill>
              </a:rPr>
              <a:t>AHRQ Patient Safety Network: Medication Administration Errors | U.S. Food and Drug Administration: Medication Errors Related to CDER-Regulated Drug Products | National Council of State Boards of Nursing: 2026 NCLEX-PN Test Plan</a:t>
            </a:r>
          </a:p>
        </p:txBody>
      </p:sp>
    </p:spTree>
    <p:extLst>
      <p:ext uri="{BB962C8B-B14F-4D97-AF65-F5344CB8AC3E}">
        <p14:creationId xmlns:p14="http://schemas.microsoft.com/office/powerpoint/2010/main" val="953663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2026-07-13T19:11:14.5950000Z</dcterms:created>
  <dcterms:modified xsi:type="dcterms:W3CDTF">2026-07-13T19:11:14.5950000Z</dcterms:modified>
</coreProperties>
</file>