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87e20e3584354" /><Relationship Type="http://schemas.openxmlformats.org/officeDocument/2006/relationships/extended-properties" Target="/docProps/app.xml" Id="R04ed1501a6034335" /><Relationship Type="http://schemas.openxmlformats.org/officeDocument/2006/relationships/officeDocument" Target="/ppt/presentation.xml" Id="R54b598762ff8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bc8eb74054510"/>
  </p:sldMasterIdLst>
  <p:notesMasterIdLst>
    <p:notesMasterId xmlns:r="http://schemas.openxmlformats.org/officeDocument/2006/relationships" r:id="R394f896bb6644fa8"/>
  </p:notesMasterIdLst>
  <p:sldIdLst>
    <p:sldId xmlns:r="http://schemas.openxmlformats.org/officeDocument/2006/relationships" id="256" r:id="Ra9f580529acd4a46"/>
    <p:sldId xmlns:r="http://schemas.openxmlformats.org/officeDocument/2006/relationships" id="257" r:id="R331b32c6f56d40d8"/>
    <p:sldId xmlns:r="http://schemas.openxmlformats.org/officeDocument/2006/relationships" id="258" r:id="R66b4ca2d43e748cf"/>
    <p:sldId xmlns:r="http://schemas.openxmlformats.org/officeDocument/2006/relationships" id="259" r:id="Rf2e75d4d110f4c7d"/>
    <p:sldId xmlns:r="http://schemas.openxmlformats.org/officeDocument/2006/relationships" id="260" r:id="Rb71d531bf3ec4a8c"/>
    <p:sldId xmlns:r="http://schemas.openxmlformats.org/officeDocument/2006/relationships" id="261" r:id="Rb4d0135181ea4809"/>
    <p:sldId xmlns:r="http://schemas.openxmlformats.org/officeDocument/2006/relationships" id="262" r:id="R36c1073ef205482e"/>
    <p:sldId xmlns:r="http://schemas.openxmlformats.org/officeDocument/2006/relationships" id="263" r:id="Rac95283b529744ae"/>
    <p:sldId xmlns:r="http://schemas.openxmlformats.org/officeDocument/2006/relationships" id="264" r:id="R1a931e51eaff48f5"/>
    <p:sldId xmlns:r="http://schemas.openxmlformats.org/officeDocument/2006/relationships" id="265" r:id="R70f47071694240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97caff4794778" /><Relationship Type="http://schemas.openxmlformats.org/officeDocument/2006/relationships/slideMaster" Target="/ppt/slideMasters/slideMaster1.xml" Id="R5f1bc8eb74054510" /><Relationship Type="http://schemas.openxmlformats.org/officeDocument/2006/relationships/notesMaster" Target="/ppt/notesMasters/notesMaster1.xml" Id="R394f896bb6644fa8" /><Relationship Type="http://schemas.openxmlformats.org/officeDocument/2006/relationships/presProps" Target="/ppt/presProps.xml" Id="Rb78452a0946141fc" /><Relationship Type="http://schemas.openxmlformats.org/officeDocument/2006/relationships/tableStyles" Target="/ppt/tableStyles.xml" Id="R9646a01d38d945cd" /><Relationship Type="http://schemas.openxmlformats.org/officeDocument/2006/relationships/slide" Target="/ppt/slides/slide1.xml" Id="Ra9f580529acd4a46" /><Relationship Type="http://schemas.openxmlformats.org/officeDocument/2006/relationships/slide" Target="/ppt/slides/slide2.xml" Id="R331b32c6f56d40d8" /><Relationship Type="http://schemas.openxmlformats.org/officeDocument/2006/relationships/slide" Target="/ppt/slides/slide3.xml" Id="R66b4ca2d43e748cf" /><Relationship Type="http://schemas.openxmlformats.org/officeDocument/2006/relationships/slide" Target="/ppt/slides/slide4.xml" Id="Rf2e75d4d110f4c7d" /><Relationship Type="http://schemas.openxmlformats.org/officeDocument/2006/relationships/slide" Target="/ppt/slides/slide5.xml" Id="Rb71d531bf3ec4a8c" /><Relationship Type="http://schemas.openxmlformats.org/officeDocument/2006/relationships/slide" Target="/ppt/slides/slide6.xml" Id="Rb4d0135181ea4809" /><Relationship Type="http://schemas.openxmlformats.org/officeDocument/2006/relationships/slide" Target="/ppt/slides/slide7.xml" Id="R36c1073ef205482e" /><Relationship Type="http://schemas.openxmlformats.org/officeDocument/2006/relationships/slide" Target="/ppt/slides/slide8.xml" Id="Rac95283b529744ae" /><Relationship Type="http://schemas.openxmlformats.org/officeDocument/2006/relationships/slide" Target="/ppt/slides/slide9.xml" Id="R1a931e51eaff48f5" /><Relationship Type="http://schemas.openxmlformats.org/officeDocument/2006/relationships/slide" Target="/ppt/slides/slide10.xml" Id="R70f47071694240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51a6b53a61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4ee738c48c4db4" /><Relationship Type="http://schemas.openxmlformats.org/officeDocument/2006/relationships/notesMaster" Target="/ppt/notesMasters/notesMaster1.xml" Id="Raab5fa4d2add4f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3ebff1b7241a7" /><Relationship Type="http://schemas.openxmlformats.org/officeDocument/2006/relationships/notesMaster" Target="/ppt/notesMasters/notesMaster1.xml" Id="R046f9939fc0a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e8bd8121394d75" /><Relationship Type="http://schemas.openxmlformats.org/officeDocument/2006/relationships/notesMaster" Target="/ppt/notesMasters/notesMaster1.xml" Id="Rd5941a4a054c4a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d3fa5ed944d82" /><Relationship Type="http://schemas.openxmlformats.org/officeDocument/2006/relationships/notesMaster" Target="/ppt/notesMasters/notesMaster1.xml" Id="R43bbdbfd346245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f6defde50340c3" /><Relationship Type="http://schemas.openxmlformats.org/officeDocument/2006/relationships/notesMaster" Target="/ppt/notesMasters/notesMaster1.xml" Id="R6b023c9e2cd4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e9f6319f734d21" /><Relationship Type="http://schemas.openxmlformats.org/officeDocument/2006/relationships/notesMaster" Target="/ppt/notesMasters/notesMaster1.xml" Id="Re9c8dabdbe6e40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35f0b2ef104224" /><Relationship Type="http://schemas.openxmlformats.org/officeDocument/2006/relationships/notesMaster" Target="/ppt/notesMasters/notesMaster1.xml" Id="Rae1c6b2a89cc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79702408d4514" /><Relationship Type="http://schemas.openxmlformats.org/officeDocument/2006/relationships/notesMaster" Target="/ppt/notesMasters/notesMaster1.xml" Id="R6b91e41375064e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6a460522df4c6e" /><Relationship Type="http://schemas.openxmlformats.org/officeDocument/2006/relationships/notesMaster" Target="/ppt/notesMasters/notesMaster1.xml" Id="R0990dffebb40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d83e611ee74631" /><Relationship Type="http://schemas.openxmlformats.org/officeDocument/2006/relationships/notesMaster" Target="/ppt/notesMasters/notesMaster1.xml" Id="R5ab7b55cc747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d79d047f7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c460b88224bc1" /><Relationship Type="http://schemas.openxmlformats.org/officeDocument/2006/relationships/slideLayout" Target="/ppt/slideLayouts/slideLayout1.xml" Id="R156c978f0502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c978f0502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94b75a8b4635" /><Relationship Type="http://schemas.openxmlformats.org/officeDocument/2006/relationships/notesSlide" Target="/ppt/notesSlides/notesSlide1.xml" Id="R4c4eacb50f5c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2a0f9f6ab4d17" /><Relationship Type="http://schemas.openxmlformats.org/officeDocument/2006/relationships/notesSlide" Target="/ppt/notesSlides/notesSlide2.xml" Id="Rd9f9be947caa45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77e30fa84e8d" /><Relationship Type="http://schemas.openxmlformats.org/officeDocument/2006/relationships/notesSlide" Target="/ppt/notesSlides/notesSlide3.xml" Id="R675e20ea212c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d89c76dbf4fcf" /><Relationship Type="http://schemas.openxmlformats.org/officeDocument/2006/relationships/notesSlide" Target="/ppt/notesSlides/notesSlide4.xml" Id="R4167ac5d26f44a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276200bad44f3" /><Relationship Type="http://schemas.openxmlformats.org/officeDocument/2006/relationships/notesSlide" Target="/ppt/notesSlides/notesSlide5.xml" Id="R3f1fac189c974a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1f94c43a94e76" /><Relationship Type="http://schemas.openxmlformats.org/officeDocument/2006/relationships/notesSlide" Target="/ppt/notesSlides/notesSlide6.xml" Id="R00435f521a2549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f13ca43cc49c6" /><Relationship Type="http://schemas.openxmlformats.org/officeDocument/2006/relationships/notesSlide" Target="/ppt/notesSlides/notesSlide7.xml" Id="Ra6bd8e62b9624d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e495a8fb549a8" /><Relationship Type="http://schemas.openxmlformats.org/officeDocument/2006/relationships/notesSlide" Target="/ppt/notesSlides/notesSlide8.xml" Id="R623f86abab6147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52e35e8e4014" /><Relationship Type="http://schemas.openxmlformats.org/officeDocument/2006/relationships/notesSlide" Target="/ppt/notesSlides/notesSlide9.xml" Id="R0c5e079b63af4b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0bc853ab84ad1" /><Relationship Type="http://schemas.openxmlformats.org/officeDocument/2006/relationships/notesSlide" Target="/ppt/notesSlides/notesSlide10.xml" Id="Rb88bd298368745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58A67-4979-4BF9-BBA7-1632CAD1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BDC59-C156-4F5D-93C0-D107E768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FAE95-C123-4BC1-972D-D3BBB25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Mental Health Nursing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4633B-B8D5-4335-A4E2-1A7AA71D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Therapeutic communication, crisis safety, major disorders, and medication monitoring.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E8550-3124-42A4-BEFB-7C6B0C6B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421F5-8675-4981-B52C-973AAEE7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E37D6-FE8B-423D-9B99-69D07E7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9BAC2-07A0-4CD4-BC57-9F1B1F2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040C-BDD4-4A3E-9C34-42B2647F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389419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55B76-2803-4E3E-8329-FC6C99E3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9D947-D8DE-42CA-926B-2520807A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1A87A-75D5-4FF2-BCAA-DF79A63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51F9D-A84D-45F9-BB53-98A741E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17D9E-D07B-4D06-AC60-3A2B17A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DD86D-BD42-4B67-866B-4AF256BF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7622C-6241-41F5-9C0A-3016361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ED4A4-B7A4-4721-9F6A-D8CD5D80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93F4-AB19-45E3-8DAF-691667D1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Choose therapeutic responses that invite the patient's perspective.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132CB-B77C-4545-8EC4-E877E99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068BB-832B-4771-A869-54D0B7A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E59FB-1C32-453B-934E-579FF44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Distinguish reflection and clarification from advice, reassurance, or argument.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CE6A9-5953-4C7D-97A4-432262A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BE5A1-CC85-48E2-B097-5A4A480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AE63A-C1F3-4AC0-90AA-09FC0E7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suicide warning signs and respond within role.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7FACF-0E2B-4DB5-BEFC-3EACB354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CB4D6-6517-4505-A6E2-B408C4E0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D869B-331E-4F22-8B19-F4FED39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Protect privacy without promising unsafe secrecy.</a:t>
            </a:r>
          </a:p>
        </p:txBody>
      </p:sp>
    </p:spTree>
    <p:extLst>
      <p:ext uri="{BB962C8B-B14F-4D97-AF65-F5344CB8AC3E}">
        <p14:creationId xmlns:p14="http://schemas.microsoft.com/office/powerpoint/2010/main" val="2083743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B53D2-F9A5-4EF1-BFED-5F85EFF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342DD-75F3-4C42-AFAA-E9DB22F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1F02A-ED88-412C-BA50-A5114FA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3220C-F8FF-4CEA-BFBE-32F4DD6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5B08E-D90C-49A5-AE31-C44AFBC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B8A9B-37CB-4964-B48A-4CF97A5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61372-BE42-43AD-A228-BC8AB283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24FD3-06EA-46A7-83F1-2E071F17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36E47-2579-40FC-9416-826CC9FF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Therapeutic communication is purposeful listening: be present, ask one clear question, reflect what you hear, and avoid trying to fix the feeling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A38E5-8325-4914-928F-7ACF7C3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3100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59706-5C1D-433D-8E34-EEEF963A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69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A7D87-E043-4176-B0F7-AD50AD4B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8350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about suicide plainly when warning signs or statements raise concern. A direct, calm question does not create suicidal thinking.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9F150-E9F1-46CC-B9AA-87EB530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407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F69B2-CFF6-4B91-9402-E408AF4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7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0B741-2177-4F07-A16D-015092DA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932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If risk may be immediate, stay with the patient, reduce access to hazards according to policy, and activate the trained response team.</a:t>
            </a:r>
          </a:p>
        </p:txBody>
      </p:sp>
    </p:spTree>
    <p:extLst>
      <p:ext uri="{BB962C8B-B14F-4D97-AF65-F5344CB8AC3E}">
        <p14:creationId xmlns:p14="http://schemas.microsoft.com/office/powerpoint/2010/main" val="1486442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3D874-5B4D-48B9-9986-5FE2294D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8DEB2-0364-4172-AB1A-12BDEC8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F4CC6-5884-438D-992B-868E40C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574F5-554D-4CB5-84E3-B58FAF3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0DC7-E149-4836-BD7C-C023A8C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9F61-0025-4196-B4AC-453488A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74B3E-0D12-4E1C-95D7-3D88E0D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57EA8-BDDB-442A-9484-8F5CDE0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420D8-6C52-4F47-9440-843A035D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When suicide risk may be immediate, remain with the patient and activate the facility safety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7936B-040A-4092-B40D-231A4C3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63458-1307-4DDF-9FD0-3AFA4BD2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5BB34-1C62-4C8B-880A-C5431EA4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0D2C3-897B-4433-B06E-DDD3A6E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Follow policy for observation level, belongings, environmental safety, and handoff; do not improvise precautions.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9578D-D9C6-4630-9F3D-9B1159C5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B50BB-CD61-409D-81E2-C153098D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5F8E2-5D29-4F0E-8746-37046538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22C5B-F7E7-410C-A3F3-B26596BB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Escalate command hallucinations, threats, severe behavioral change, or inability to maintain safety.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7F9DD-CF7F-4AAC-97F4-6DC03C8C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6D34B-49C1-4317-B115-9A47F192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5D517-241B-499E-A269-DDE1FEE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8039A-8F9B-4AFC-8878-3FEDD939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Use emergency services or the designated crisis pathway when the setting cannot safely manage the situation.</a:t>
            </a:r>
          </a:p>
        </p:txBody>
      </p:sp>
    </p:spTree>
    <p:extLst>
      <p:ext uri="{BB962C8B-B14F-4D97-AF65-F5344CB8AC3E}">
        <p14:creationId xmlns:p14="http://schemas.microsoft.com/office/powerpoint/2010/main" val="84072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85DC5-32E9-4297-8E09-1A9D828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9B01-8DAE-4802-8C92-4DBC1359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04AB-F1CC-4B4C-B4EA-F5C31C30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19495-E202-4D23-9854-8DDB696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D7377-060D-4B51-9DB6-C4E8C0C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66070-E3E6-4CC3-89F2-40FF0DB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5E803-ECC9-4A3B-9002-C6D17C2A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35280-6581-478E-9099-06681A4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CE7AB-87C7-47CF-ADF0-2600176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52871-53E4-4BCF-BB32-C5D32C9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ED17F-1C69-46BD-85F1-0D4F5A5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Observe appearance, behavior, speech, mood, affect, orientation, thought organization, perception, insight, and function.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E3237-C509-4960-B761-D2DE39B1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C5E54-0FAF-4339-B077-A9951B3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5439D-BE63-4B17-ACA3-CED7C83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Ask directly and privately about thoughts of suicide or harming others when indicated.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B6931-001E-444B-91A3-F42AC9B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45CA5-E974-43D2-A670-B5B7A3B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DF269-5513-4ADC-8C42-1AA6F6A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Report the patient's exact words, stated intent, plan information, access concerns, past behavior, protective supports, and observed changes.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DD1BA-4D23-4D74-AEE3-C6F59C0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9A4D1-5F41-4628-B4A2-8447554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4F3CA-8CA4-4680-B4BA-0F9412E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Reassess after transitions, new information, medication changes, or a change in behavior according to policy.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6E162-FE84-43C5-9533-52CE74D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23E0E-0B11-49E5-8E3E-36B1CE3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5870E-7528-486C-8471-3885C5AD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ABA17-8431-477B-B402-67E475E2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3E7EC-2E6D-4A88-B1C7-17A709F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promise to keep suicidal intent secret.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E484C-B5BA-4019-AB98-565725C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FC26D-5661-4ED7-BFC2-D8B0C9FB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519DC-5377-44E7-A50D-6496452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leave a patient with possible imminent risk alone while seeking help.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3A2B7-D447-4DD0-AC9D-1882F010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1B1BE-BA78-4A1B-A222-922FACA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E57AF-0E5F-4763-973E-95AE3E7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debate a delusion, challenge a hallucination aggressively, or use false reassurance.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2FFAE3-11AA-4D39-9FCF-FF601AA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87FEC-D7EC-43E5-8915-4F6A6C05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45E72-48E8-4C8E-949D-581B794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 "no-harm contract" is not a substitute for assessment, safeguards,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1587561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38C83-A0E5-487C-9A5A-5C4176A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9FA5A-F145-4229-A3B3-6B25FB4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ADADB-F355-483F-B986-F84065F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4E5E5-A99B-4590-BA46-DB87A417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98081-E2D4-47DA-989E-E474426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LISTEN: Lean in, Invite, State observations, Track change, Escalate risk, No secret promises.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A895A-6D4C-472C-AA39-71F2C89A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1D03-6E48-4AE0-AB38-4CCD003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9EB4E-B511-460E-ACB1-CD620D7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Direct is kind: ask clearly about suicide when concern exists.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D4649-2049-4D76-BAE6-0217645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D75B4-2A39-47B8-A986-9A02C9D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C1177-1EE1-4A62-98C7-828A96D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Feelings are real even when a belief is not: validate emotion without confirming a delusion.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ED4D8-DE27-4E7B-9B3D-CB53860A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261959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554C1-0A96-4A82-A0A9-80B88F6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364DA-3394-43FE-9BA9-72A597CB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E5805-828B-490B-986C-09B22EC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A36F8-9CF5-40CF-AABC-2460DC3B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39833-5063-4A16-8BD3-85AD43D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1E5FB-2076-478B-94BC-A98A0FE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93A59-8A12-4FFB-BF27-12B40B8E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0D366-E6FC-4D6A-8D77-5C9375C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patient who recently experienced a major loss quietly says, "Everyone would be better if I did not wake up."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8DB02-1530-4EA5-BEC0-F2BFEC8F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11C18-848E-4EEA-AF39-1950F7F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FEE43-9AB0-4CFA-B052-674F2D2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Statement about death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Recent major loss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Quiet withdrawal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3ADCF-7D43-489F-8F3D-A7137CFB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60C22-9393-480B-8DF9-2C7ACD4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12000-6B42-4C19-A84F-CF2828A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suicidal thinking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statement requires direct assessment, not reassurance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31F0A-44F0-4624-A5B7-6A2CB36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D27A8-0511-4F89-BE35-02398DA4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3F183-EDBD-4205-BCEB-20AF7AED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Stay present and ask directly about current thoughts of suicide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Notify the qualified clinician and use the suicide-safety pathway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Maintain ordered observation and environmental safeguards</a:t>
            </a:r>
          </a:p>
        </p:txBody>
      </p:sp>
    </p:spTree>
    <p:extLst>
      <p:ext uri="{BB962C8B-B14F-4D97-AF65-F5344CB8AC3E}">
        <p14:creationId xmlns:p14="http://schemas.microsoft.com/office/powerpoint/2010/main" val="505704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348BC-CFDA-49D7-B181-DF1129B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632A9-59DA-4391-8DFE-330F513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1969D-3936-411C-BA85-6C1DE7BC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032F-F3E7-4E21-9FB3-486D0A9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3F31B-BD8D-4331-AE74-C260C81B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0206-91D3-40F5-8669-D278BAA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5001-128B-4CFE-BA04-E19C56CE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patient says, "There is no reason for me to be here." What is the best initial response?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B3DBB-3916-4313-9AE2-389354CD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035DD-50C8-41C1-B54B-9C2BB2A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C55DF-1690-427D-90EC-487F66E8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"Are you thinking about suicide right now?"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ECC4F-4B26-4C2D-A76A-E96185D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A9220-C1A9-4236-B3F1-AB4B12BE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7527C-1466-4CCC-A00D-B437454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"You have so much to live for."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F4052-55C1-4C90-BDAA-0F90C858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42758-70B9-47DB-9E20-C792DE6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9D1CD-1629-4A3A-8DB4-06BD6F3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"Why would you say that?"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53F2A-3209-4565-A6D5-B2ABB18F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11CC1-C357-4335-8A5D-38D0AD5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8D2E4-CC9B-4A83-8E38-EB4574C4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"Let us discuss this tomorrow."</a:t>
            </a:r>
          </a:p>
        </p:txBody>
      </p:sp>
    </p:spTree>
    <p:extLst>
      <p:ext uri="{BB962C8B-B14F-4D97-AF65-F5344CB8AC3E}">
        <p14:creationId xmlns:p14="http://schemas.microsoft.com/office/powerpoint/2010/main" val="1905739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F9E28-8B2C-41A3-8E4C-3E75ECA6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A8BA7-366B-4F54-9897-6A82679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8BA82-2909-4D8D-A96F-6C88D403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5853F-55AE-4F3A-BABD-F9C067DD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B2B6-595E-497A-BBF7-14D6F294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55D4A-1C0D-4072-816D-9CF0A6D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9F659-9F79-4B92-9CB2-A4E6639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7EE60-0FD4-4844-8720-E72AD990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direct, calm suicide question clarifies immediate risk. Reassurance, blame-sounding "why," or delay can shut down disclosure.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97432-1C3A-4050-BD3C-99175C55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B3CE6-DCFC-4A6B-9167-7D3D8AAF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98FAE-A58C-4635-8ED8-8DB9C0C0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Suicide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568F7-DE59-414D-9A62-878F48D2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8BFBE-B1E3-4DB1-B584-596F090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70654-E054-4000-89B5-62A9A5E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When a statement suggests death or hopelessness, ask directly about suicide.</a:t>
            </a:r>
          </a:p>
        </p:txBody>
      </p:sp>
    </p:spTree>
    <p:extLst>
      <p:ext uri="{BB962C8B-B14F-4D97-AF65-F5344CB8AC3E}">
        <p14:creationId xmlns:p14="http://schemas.microsoft.com/office/powerpoint/2010/main" val="1505825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77B60-3593-480D-ADC2-FE5DE8DD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3FF7B-1088-4CDC-9D8F-B6B2CA4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D6E3A-BC56-4B27-8EC8-639A886E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21DDB-EEB2-4602-A75F-1255AE35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7165-12FE-445B-9968-ACF8DA21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Listen without judgment and use reflection, clarification, and direct safety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9B1E1-A548-4A19-B9B7-4C99D7CC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CCE4E-BCBD-47DF-BD7E-C002098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10FE8-BC9B-4517-AA12-5251EE1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Protect a patient with possible imminent risk by staying present and activating policy-based help.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87DB4-3F42-4B6E-ACBA-675722A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7D6D4-15E5-42B4-90A4-250B57A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57F2C-89D2-4872-91C2-1DA0D544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Document exact statements, objective behavior, actions, and handoff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C4E59-C26E-4B91-A6A1-30EDDB1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DECBA-DE17-42C4-AB96-24320EE4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Agency for Healthcare Research and Quality: TeamSTEPPS Tools</a:t>
            </a:r>
          </a:p>
        </p:txBody>
      </p:sp>
    </p:spTree>
    <p:extLst>
      <p:ext uri="{BB962C8B-B14F-4D97-AF65-F5344CB8AC3E}">
        <p14:creationId xmlns:p14="http://schemas.microsoft.com/office/powerpoint/2010/main" val="1223040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2026-07-13T19:11:00.3210000Z</dcterms:created>
  <dcterms:modified xsi:type="dcterms:W3CDTF">2026-07-13T19:11:00.3210000Z</dcterms:modified>
</coreProperties>
</file>