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ce2a7b264b471d" /><Relationship Type="http://schemas.openxmlformats.org/officeDocument/2006/relationships/extended-properties" Target="/docProps/app.xml" Id="R296239f2b5f44c64" /><Relationship Type="http://schemas.openxmlformats.org/officeDocument/2006/relationships/officeDocument" Target="/ppt/presentation.xml" Id="R28719bfd270b48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4b4e97be39440b"/>
  </p:sldMasterIdLst>
  <p:notesMasterIdLst>
    <p:notesMasterId xmlns:r="http://schemas.openxmlformats.org/officeDocument/2006/relationships" r:id="R9523c460f2b74e7c"/>
  </p:notesMasterIdLst>
  <p:sldIdLst>
    <p:sldId xmlns:r="http://schemas.openxmlformats.org/officeDocument/2006/relationships" id="256" r:id="R689778e889f14b24"/>
    <p:sldId xmlns:r="http://schemas.openxmlformats.org/officeDocument/2006/relationships" id="257" r:id="R3e7ec2b37e384ca7"/>
    <p:sldId xmlns:r="http://schemas.openxmlformats.org/officeDocument/2006/relationships" id="258" r:id="R4be032e0ad7d4a28"/>
    <p:sldId xmlns:r="http://schemas.openxmlformats.org/officeDocument/2006/relationships" id="259" r:id="R0ee11c04552846b0"/>
    <p:sldId xmlns:r="http://schemas.openxmlformats.org/officeDocument/2006/relationships" id="260" r:id="Rf15a983e72d547dc"/>
    <p:sldId xmlns:r="http://schemas.openxmlformats.org/officeDocument/2006/relationships" id="261" r:id="R93c0ab655b4e473e"/>
    <p:sldId xmlns:r="http://schemas.openxmlformats.org/officeDocument/2006/relationships" id="262" r:id="R7c8b1eca0c8d4878"/>
    <p:sldId xmlns:r="http://schemas.openxmlformats.org/officeDocument/2006/relationships" id="263" r:id="Rbb63355889114545"/>
    <p:sldId xmlns:r="http://schemas.openxmlformats.org/officeDocument/2006/relationships" id="264" r:id="R506ab5899e784416"/>
    <p:sldId xmlns:r="http://schemas.openxmlformats.org/officeDocument/2006/relationships" id="265" r:id="R45a953dd635249f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20e754cefc4445" /><Relationship Type="http://schemas.openxmlformats.org/officeDocument/2006/relationships/slideMaster" Target="/ppt/slideMasters/slideMaster1.xml" Id="R894b4e97be39440b" /><Relationship Type="http://schemas.openxmlformats.org/officeDocument/2006/relationships/notesMaster" Target="/ppt/notesMasters/notesMaster1.xml" Id="R9523c460f2b74e7c" /><Relationship Type="http://schemas.openxmlformats.org/officeDocument/2006/relationships/presProps" Target="/ppt/presProps.xml" Id="R5137b49215774561" /><Relationship Type="http://schemas.openxmlformats.org/officeDocument/2006/relationships/tableStyles" Target="/ppt/tableStyles.xml" Id="R71a6807b72714652" /><Relationship Type="http://schemas.openxmlformats.org/officeDocument/2006/relationships/slide" Target="/ppt/slides/slide1.xml" Id="R689778e889f14b24" /><Relationship Type="http://schemas.openxmlformats.org/officeDocument/2006/relationships/slide" Target="/ppt/slides/slide2.xml" Id="R3e7ec2b37e384ca7" /><Relationship Type="http://schemas.openxmlformats.org/officeDocument/2006/relationships/slide" Target="/ppt/slides/slide3.xml" Id="R4be032e0ad7d4a28" /><Relationship Type="http://schemas.openxmlformats.org/officeDocument/2006/relationships/slide" Target="/ppt/slides/slide4.xml" Id="R0ee11c04552846b0" /><Relationship Type="http://schemas.openxmlformats.org/officeDocument/2006/relationships/slide" Target="/ppt/slides/slide5.xml" Id="Rf15a983e72d547dc" /><Relationship Type="http://schemas.openxmlformats.org/officeDocument/2006/relationships/slide" Target="/ppt/slides/slide6.xml" Id="R93c0ab655b4e473e" /><Relationship Type="http://schemas.openxmlformats.org/officeDocument/2006/relationships/slide" Target="/ppt/slides/slide7.xml" Id="R7c8b1eca0c8d4878" /><Relationship Type="http://schemas.openxmlformats.org/officeDocument/2006/relationships/slide" Target="/ppt/slides/slide8.xml" Id="Rbb63355889114545" /><Relationship Type="http://schemas.openxmlformats.org/officeDocument/2006/relationships/slide" Target="/ppt/slides/slide9.xml" Id="R506ab5899e784416" /><Relationship Type="http://schemas.openxmlformats.org/officeDocument/2006/relationships/slide" Target="/ppt/slides/slide10.xml" Id="R45a953dd635249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e8b4db4c3744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e5bd97aeda4573" /><Relationship Type="http://schemas.openxmlformats.org/officeDocument/2006/relationships/notesMaster" Target="/ppt/notesMasters/notesMaster1.xml" Id="R186206df5bc246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83d76bda0a42e4" /><Relationship Type="http://schemas.openxmlformats.org/officeDocument/2006/relationships/notesMaster" Target="/ppt/notesMasters/notesMaster1.xml" Id="Red62049aba064e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f9aec7bfe64d7f" /><Relationship Type="http://schemas.openxmlformats.org/officeDocument/2006/relationships/notesMaster" Target="/ppt/notesMasters/notesMaster1.xml" Id="R1bdc3bd4ce5e43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538818da2b4bce" /><Relationship Type="http://schemas.openxmlformats.org/officeDocument/2006/relationships/notesMaster" Target="/ppt/notesMasters/notesMaster1.xml" Id="R9924e07d19344b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9913a759ee416a" /><Relationship Type="http://schemas.openxmlformats.org/officeDocument/2006/relationships/notesMaster" Target="/ppt/notesMasters/notesMaster1.xml" Id="R838814d4ba0e4e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3f7e6c9ff44402" /><Relationship Type="http://schemas.openxmlformats.org/officeDocument/2006/relationships/notesMaster" Target="/ppt/notesMasters/notesMaster1.xml" Id="Rfbd8875250ad4e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79f77daa734672" /><Relationship Type="http://schemas.openxmlformats.org/officeDocument/2006/relationships/notesMaster" Target="/ppt/notesMasters/notesMaster1.xml" Id="Rdcb5ba1085694d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5bb87b1bd242da" /><Relationship Type="http://schemas.openxmlformats.org/officeDocument/2006/relationships/notesMaster" Target="/ppt/notesMasters/notesMaster1.xml" Id="R28e4e32f62e44d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b45476051b40fc" /><Relationship Type="http://schemas.openxmlformats.org/officeDocument/2006/relationships/notesMaster" Target="/ppt/notesMasters/notesMaster1.xml" Id="R572a661bc1754a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3799917a8f43b3" /><Relationship Type="http://schemas.openxmlformats.org/officeDocument/2006/relationships/notesMaster" Target="/ppt/notesMasters/notesMaster1.xml" Id="Re6bc04a32cd942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342c3f846e4d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9cdb2e7f7c4f0d" /><Relationship Type="http://schemas.openxmlformats.org/officeDocument/2006/relationships/slideLayout" Target="/ppt/slideLayouts/slideLayout1.xml" Id="Rb435d0ecd31a43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35d0ecd31a43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412dc9e37414c" /><Relationship Type="http://schemas.openxmlformats.org/officeDocument/2006/relationships/notesSlide" Target="/ppt/notesSlides/notesSlide1.xml" Id="Raf9a4618a9c34b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e3baf5e734b6b" /><Relationship Type="http://schemas.openxmlformats.org/officeDocument/2006/relationships/notesSlide" Target="/ppt/notesSlides/notesSlide2.xml" Id="R22a0e17566fb4e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fd03fb45e41b8" /><Relationship Type="http://schemas.openxmlformats.org/officeDocument/2006/relationships/notesSlide" Target="/ppt/notesSlides/notesSlide3.xml" Id="R6de78ba8ac6e4e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a19d7e3114fd3" /><Relationship Type="http://schemas.openxmlformats.org/officeDocument/2006/relationships/notesSlide" Target="/ppt/notesSlides/notesSlide4.xml" Id="R2feb6cdb171846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9f28236b14ce0" /><Relationship Type="http://schemas.openxmlformats.org/officeDocument/2006/relationships/notesSlide" Target="/ppt/notesSlides/notesSlide5.xml" Id="R75fe404ad09a4b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051919afb46cc" /><Relationship Type="http://schemas.openxmlformats.org/officeDocument/2006/relationships/notesSlide" Target="/ppt/notesSlides/notesSlide6.xml" Id="R3e405b984ad14b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50e9785894830" /><Relationship Type="http://schemas.openxmlformats.org/officeDocument/2006/relationships/notesSlide" Target="/ppt/notesSlides/notesSlide7.xml" Id="R31dd78dc947f4d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11f5b7d1e4d2f" /><Relationship Type="http://schemas.openxmlformats.org/officeDocument/2006/relationships/notesSlide" Target="/ppt/notesSlides/notesSlide8.xml" Id="R203723c7643d41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96241c89a446f" /><Relationship Type="http://schemas.openxmlformats.org/officeDocument/2006/relationships/notesSlide" Target="/ppt/notesSlides/notesSlide9.xml" Id="R8709aa04c9244c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2b2a3ab274b4a" /><Relationship Type="http://schemas.openxmlformats.org/officeDocument/2006/relationships/notesSlide" Target="/ppt/notesSlides/notesSlide10.xml" Id="R32090573afad4a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9DC72D-6FD0-47EA-B167-CB7A7D7E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47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2D9CC-E4DA-4945-8D5B-94A832CE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C9B5"/>
                </a:solidFill>
              </a:defRPr>
            </a:pPr>
            <a:r>
              <a:rPr sz="1200" b="1">
                <a:solidFill>
                  <a:srgbClr val="26C9B5"/>
                </a:solidFill>
              </a:rPr>
              <a:t>NURSING WITH LOLO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9BA03-7FDD-4D09-BE2C-BD8D8CA6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7810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Isolation Precautions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E9FBD-5D8B-4D0A-A35B-9351EF3B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723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C4D6E3"/>
                </a:solidFill>
              </a:defRPr>
            </a:pPr>
            <a:r>
              <a:rPr sz="1725">
                <a:solidFill>
                  <a:srgbClr val="C4D6E3"/>
                </a:solidFill>
              </a:rPr>
              <a:t>Standard, contact, droplet, airborne, PPE, equipment, and transport concepts.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9CE81-6338-42AA-A3D1-6C9BFC64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1A9BB"/>
                </a:solidFill>
              </a:defRPr>
            </a:pPr>
            <a:r>
              <a:rPr sz="1275" b="1">
                <a:solidFill>
                  <a:srgbClr val="91A9BB"/>
                </a:solidFill>
              </a:rPr>
              <a:t>Simple explanations - nursing priorities - original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5E99D-1129-4330-8445-C7D180C9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143000"/>
            <a:ext cx="1762125" cy="1762125"/>
          </a:xfrm>
          <a:prstGeom xmlns:a="http://schemas.openxmlformats.org/drawingml/2006/main" prst="roundRect">
            <a:avLst>
              <a:gd name="adj" fmla="val 12973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6CDCE-C434-430B-AF6E-962BFC31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002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6C9B5"/>
                </a:solidFill>
              </a:defRPr>
            </a:pPr>
            <a:r>
              <a:rPr sz="3600" b="1">
                <a:solidFill>
                  <a:srgbClr val="26C9B5"/>
                </a:solidFill>
              </a:rPr>
              <a:t>LOLO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EE1B3-B1B8-4ADF-9A1A-89D86517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6220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STUDY EDITION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53327-5365-496C-A025-1DE75849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29BAD"/>
                </a:solidFill>
              </a:defRPr>
            </a:pPr>
            <a:r>
              <a:rPr sz="825">
                <a:solidFill>
                  <a:srgbClr val="829BAD"/>
                </a:solidFill>
              </a:rPr>
              <a:t>Independent study aid - verify current clinical policy</a:t>
            </a:r>
          </a:p>
        </p:txBody>
      </p:sp>
    </p:spTree>
    <p:extLst>
      <p:ext uri="{BB962C8B-B14F-4D97-AF65-F5344CB8AC3E}">
        <p14:creationId xmlns:p14="http://schemas.microsoft.com/office/powerpoint/2010/main" val="15739618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771858-87A3-4833-82B2-0F59633E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LEARNING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01EB4-0E84-4D4C-8E54-5ECE705E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By the end, you can...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7DA34-A228-49FC-BC84-0345D02E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6FA89-537B-4BC2-8305-D6D13007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DC3E4-8394-455E-9100-8988BF44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7786A-3936-4C80-9630-E5BE70ED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CCF51-4B85-4F9F-BE39-DFE5E140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ADD62C-894E-41E2-86C2-EF8E52C9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D4F99-5C0A-4008-B28A-AB5F27D5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Apply standard precautions to every patient encounter.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7A02E-27F1-4B3F-9828-66FF1847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32710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B393A-2402-46DC-99A3-2FB5B9D7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5653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2AB51-1364-49CA-9E8D-228C5DC1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7960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Differentiate contact, droplet, and airborne precaution concepts.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7353C-F6EC-455F-A6A2-7A46C979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3295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590F69-136A-4961-8724-9B6F7BA9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712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0A93BA-2B5F-4BAF-A2A1-E9E89898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98545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Choose safe actions after contamination or exposure.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A5A33-40C9-43F8-B93B-00C8FF56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73880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22F9AC-CD39-4662-8283-DBB173DF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770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2997B9-C20E-4A77-8291-7B5729C3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69130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Recognize patient, medication, and environmental fall risks.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2BBD26-3F53-4A2C-A603-C734D1F2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44465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86A3AD-6A48-459D-9A4F-09219C0C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6829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D7BEFA-21C9-4C6A-AC0E-BFD67941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39715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Select individualized fall-prevention actions.</a:t>
            </a:r>
          </a:p>
        </p:txBody>
      </p:sp>
    </p:spTree>
    <p:extLst>
      <p:ext uri="{BB962C8B-B14F-4D97-AF65-F5344CB8AC3E}">
        <p14:creationId xmlns:p14="http://schemas.microsoft.com/office/powerpoint/2010/main" val="11785115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D25957-BB24-4D1E-8BCD-7B61D419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EXPLAIN IT SIMPLY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587CF-4B39-4909-A2B5-EC9398EA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Start with the story that makes the details stick.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54043-6FEE-4F1E-A0B3-130646FD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C89BD-9D53-4EC8-8570-59AEE1B4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80BC8-DF28-4DE5-A87D-53BEF82C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41902-3DC8-43A9-9C63-ADBDB6D1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17A45-67F1-4A52-B4BF-98E82BF0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8C050-1D53-441F-B222-E7B669E2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57FFB-7A13-483A-BB97-1AFFF581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Standard precautions are the minimum infection-prevention practices used for every patient, based on the task and expected exposure.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25EDF-0266-4AD6-B88A-8A510593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0356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C61A5-3618-4FE2-8C6B-EA7AB924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4181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71ECD4-16B1-41F5-9628-9C941162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5606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Contact, droplet, and airborne precautions add controls for organisms that spread in particular ways. The exact room, protective equipment, and transport process depend on current guidance and facility policy.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C1640-393A-466F-81CE-784E7ED9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38588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3DF32A-B9D2-4505-8E48-52D38CC2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2413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5D3E3-2E5F-4C44-B028-E4ABB57C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33838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Hand hygiene connects every part of infection prevention. Gloves reduce exposure, but they do not replace cleaning the hands.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BABCEA-8F37-4080-B9DD-B5DAC37A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6819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D8A5AA-C08C-4A4D-BF10-D304DFD7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50644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D7D185-75D6-47BC-AA5E-BA8A1817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22069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Fall risk is not a label that stays the same all day. Illness, new symptoms, medications, toileting needs, and unfamiliar surroundings can change risk quickly.</a:t>
            </a:r>
          </a:p>
        </p:txBody>
      </p:sp>
    </p:spTree>
    <p:extLst>
      <p:ext uri="{BB962C8B-B14F-4D97-AF65-F5344CB8AC3E}">
        <p14:creationId xmlns:p14="http://schemas.microsoft.com/office/powerpoint/2010/main" val="1779919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037668-84B6-4C17-AFC1-FC9A5CE5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PRIORITY PATHWAY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559F3-1E31-4A4D-9077-5E7DEE89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Notice the cue, connect the risk, then choose the safest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19584-D4E4-4C9D-9727-D6F39E82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7441E-A9DF-46A1-8FD1-B0A75EC0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92CCD-AB0F-4309-A661-10E02023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CC581-ECB4-4EBC-B19C-B3447357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EC5DF-2D57-4DDF-B3D2-47082A5E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FC94D-C88D-40C5-8223-5863FF06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570"/>
                </a:solidFill>
              </a:defRPr>
            </a:pPr>
            <a:r>
              <a:rPr sz="1500" b="1">
                <a:solidFill>
                  <a:srgbClr val="168570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C15FE-B03A-4A59-89F0-13A38CC2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For a splash or sharps exposure, stop the task safely, perform immediate first aid, and report through the exposure pathway.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25111-A4A7-44E2-BB56-384581DA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1F9F4-C01B-4000-8BA1-297F5B0D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CDD8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E636C-2603-41C0-A7F6-6462E7E9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56FF2"/>
                </a:solidFill>
              </a:defRPr>
            </a:pPr>
            <a:r>
              <a:rPr sz="150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FC5D9E-68D1-4AC0-8E99-66149D72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Place source-control measures and separate a person with concerning infectious symptoms according to local protocol.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5D87BB-9527-487D-9F87-0CE72661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F437A3-4760-4BE8-8A4D-9F96547B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BDC38F-E7B5-4B88-8BB2-86CEF531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570"/>
                </a:solidFill>
              </a:defRPr>
            </a:pPr>
            <a:r>
              <a:rPr sz="1500" b="1">
                <a:solidFill>
                  <a:srgbClr val="168570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543C8-F33D-4C2A-8681-C64EF015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If PPE becomes torn or heavily contaminated, withdraw safely and replace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662577-1342-4194-94DB-FE5EF1BB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F36167-5C95-4A94-8CC2-63EE1721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CDD8F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B95427-751D-4E64-B8FD-AC4D708F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56FF2"/>
                </a:solidFill>
              </a:defRPr>
            </a:pPr>
            <a:r>
              <a:rPr sz="150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2001A4-ED0D-4DA5-AB70-350857FD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Escalate suspected outbreaks or precaution mismatches promptly to infection-prevention resources.</a:t>
            </a:r>
          </a:p>
        </p:txBody>
      </p:sp>
    </p:spTree>
    <p:extLst>
      <p:ext uri="{BB962C8B-B14F-4D97-AF65-F5344CB8AC3E}">
        <p14:creationId xmlns:p14="http://schemas.microsoft.com/office/powerpoint/2010/main" val="6297614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95AF0E-49F8-40D0-B1E3-ABE9FA52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ASSESSMENT AND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D8DEE4-FBA5-4955-A96D-BB32DB90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Trend the client, not a single number.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829F7-84D7-4A44-A5A4-A7CFC8C4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35C33-E2D5-4DFD-8FD2-D70FDC15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EBFEA9-31D0-4EDA-A4E9-5E36C834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994D6-3F16-4F03-AD9A-81AF3570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77563-A1E0-4F03-8939-63A282A9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521970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9AF04-9F47-423D-BEA6-7C2C57C9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8570"/>
                </a:solidFill>
              </a:defRPr>
            </a:pPr>
            <a:r>
              <a:rPr sz="1125" b="1">
                <a:solidFill>
                  <a:srgbClr val="168570"/>
                </a:solidFill>
              </a:rPr>
              <a:t>WHAT TO NOTICE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AF22B-285C-48F1-8383-91793D70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34FA6-DE4C-472E-9AA3-ADF7C4EC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81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839C5-A20B-4994-9904-8055CFAF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5270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Review symptoms, exposure history, current precautions, wounds, devices, and relevant trends.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AD2889-D0AF-410B-AFA7-DADC7140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339B23-F1B2-4E98-B5BD-12DDC30E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0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03F2B1-3229-4F66-83F6-3B0C1E3C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7185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Before the task, predict contact with blood, body fluids, nonintact skin, mucous membranes, or respiratory material.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92F339-1E60-42F1-8D96-0D1E31BB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AF5544-F683-47C5-AD1D-C0B28744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95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A43FF8-4DA5-4A7A-A80E-C9A45A50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9100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Inspect PPE and the care environment for correct supplies and clean-to-dirty workflow.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A7A82F-5CA8-4FF9-986E-75D73C11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8B521C-CDEA-4FCB-865A-1955BFE4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387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DD49BA-5F71-4CE1-8621-F9DCFF87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1015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Check current organism-specific guidance rather than relying on memory or a room label alone.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B9CC5B-AB9B-45F2-8A4A-CF7E078B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546735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0EDB59-B978-49FC-A730-645C4A50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19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455D"/>
                </a:solidFill>
              </a:defRPr>
            </a:pPr>
            <a:r>
              <a:rPr sz="1125" b="1">
                <a:solidFill>
                  <a:srgbClr val="C8455D"/>
                </a:solidFill>
              </a:rPr>
              <a:t>WHAT CAN HARM THE CLIENT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FA9C38-0D7E-4DF3-8C54-A3568210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76478E-9C96-4A94-8D07-56A12ECF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81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CF732C-A07C-4825-96D8-0AB73284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5270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Never recap, bend, or handle a used sharp contrary to the approved safety process.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CD2D3A-F29D-40C0-A0ED-FB8F7727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A82A11-9EA7-4584-A008-BF641336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0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36EAF1-385E-406E-BDE1-E39553E9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7185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Do not wear the same gloves between patients or move from a dirty task to a clean task without changing them and cleaning hands as indicated.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9205C7-3C27-4D71-922F-72597B68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D829FD-546B-4A65-9E28-DCBBA056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195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15E45C-679B-4BE5-A289-11AE1E8C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Isolation requirements vary by organism, procedure, and facility; verify current instructions.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7E44FB-BD20-4101-9306-CF6A82D3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1490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AED69C-30DE-4670-96E8-3398A3A4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387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760CBB-D592-4101-8EC4-AC951AC9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1015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Raised side rails, alarms, or signs do not replace observation and individualized care.</a:t>
            </a:r>
          </a:p>
        </p:txBody>
      </p:sp>
    </p:spTree>
    <p:extLst>
      <p:ext uri="{BB962C8B-B14F-4D97-AF65-F5344CB8AC3E}">
        <p14:creationId xmlns:p14="http://schemas.microsoft.com/office/powerpoint/2010/main" val="15957764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977E83-3AE5-4A77-93AF-D56A1905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MEMORY THAT TRANSFERS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E94FD-0E46-4BF4-BD39-4FFAF6EA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Use the hook - then return to the clinical why.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96FEF-E57F-44A5-A7DE-345BDAAB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3951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2FCE1F-59EC-4CA7-8D23-EC968CA8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2793C-F1B7-4EF3-8272-32FEDECD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1050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Standard for everyone; added precautions for the route of spread.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5CEFA-B9F9-4581-BCB7-5385E0D5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73A60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5A50E-5DA8-40F9-8D69-B1620731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240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EB725-98B3-479C-BB71-DEAFB1D2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050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Clean hands before clean care and after contamination risk.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351E1-DADE-4144-86B5-741AD6E1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3951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09241C-5064-454A-81E3-CD9A2E10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E6234-D833-4978-AA77-177A4C8D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PPE choice = task exposure + transmission route.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093C3-6F63-4B1D-AA90-23073BAE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73A60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EACBA-CA73-4124-A66F-6F1D2E43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7667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B7EC1-4C85-42F1-B26F-C841108C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576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SAFE: Scan risk, Arrange the room, Furnish help, Evaluate again.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A48A90-DE58-4D15-9027-161F5406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FA7B8"/>
                </a:solidFill>
              </a:defRPr>
            </a:pPr>
            <a:r>
              <a:rPr sz="825">
                <a:solidFill>
                  <a:srgbClr val="8FA7B8"/>
                </a:solidFill>
              </a:rPr>
              <a:t>Memory aids support recall; current clinical references and policy guide care.</a:t>
            </a:r>
          </a:p>
        </p:txBody>
      </p:sp>
    </p:spTree>
    <p:extLst>
      <p:ext uri="{BB962C8B-B14F-4D97-AF65-F5344CB8AC3E}">
        <p14:creationId xmlns:p14="http://schemas.microsoft.com/office/powerpoint/2010/main" val="4936606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5B48F7-50D8-4702-BCFB-E1783F05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CLINICAL JUDGMENT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D2FC0-F045-4D0C-B8F6-58720822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A changing client turns facts into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6F128-15C4-440C-A3BA-1C044145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F30A6-D59B-430B-90E7-5B99275B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6E8CD-9A02-4225-B272-033BCDAA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162BB-9BF5-4A6E-8101-C7052459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80476-8827-41C9-97D5-842BF681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34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4DDF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89DFA-4659-4D9E-A35D-78865B3A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324B"/>
                </a:solidFill>
              </a:defRPr>
            </a:pPr>
            <a:r>
              <a:rPr sz="1425" b="1">
                <a:solidFill>
                  <a:srgbClr val="15324B"/>
                </a:solidFill>
              </a:rPr>
              <a:t>A patient in a shared waiting area develops frequent coughing and reports a recent infectious exposure.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55E3C-FEC8-408D-A4F3-504E8C8C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6C9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446A3-80E9-4086-8756-75F6E33C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6C9B5"/>
                </a:solidFill>
              </a:defRPr>
            </a:pPr>
            <a:r>
              <a:rPr sz="1125" b="1">
                <a:solidFill>
                  <a:srgbClr val="26C9B5"/>
                </a:solidFill>
              </a:rPr>
              <a:t>NOTICE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B4338E-E343-4CFC-8702-FB8A8266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Frequent respiratory symptoms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Possible exposure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Other people nearby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B2663-78F4-41E6-B23A-8DB07567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6F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9FDDF-091B-4A91-8FF6-47273938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56FF2"/>
                </a:solidFill>
              </a:defRPr>
            </a:pPr>
            <a:r>
              <a:rPr sz="1125" b="1">
                <a:solidFill>
                  <a:srgbClr val="456FF2"/>
                </a:solidFill>
              </a:rPr>
              <a:t>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184B19-42BF-494C-969F-6C11346C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Respiratory material could expose others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The cause is not yet confirmed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8343B-726A-4753-B2C6-3D63E485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17C8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C8A586-A0A2-424C-B26C-4E629C93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17C8E"/>
                </a:solidFill>
              </a:defRPr>
            </a:pPr>
            <a:r>
              <a:rPr sz="1125" b="1">
                <a:solidFill>
                  <a:srgbClr val="F17C8E"/>
                </a:solidFill>
              </a:rPr>
              <a:t>RESPOND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6CAB30-A8E1-4C1B-8860-44696C77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Use source control and separation measures according to the facility process.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Perform hand hygiene, assess the patient, and notify the appropriate team member.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Verify and begin indicated precautions while diagnostic information is pending.</a:t>
            </a:r>
          </a:p>
        </p:txBody>
      </p:sp>
    </p:spTree>
    <p:extLst>
      <p:ext uri="{BB962C8B-B14F-4D97-AF65-F5344CB8AC3E}">
        <p14:creationId xmlns:p14="http://schemas.microsoft.com/office/powerpoint/2010/main" val="12283796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94823D-77AA-44C2-A090-9D1D1F7B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PRACTICE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8122E-9FA1-4AAE-B102-552FDB9C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Choose before you look at the rationale.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9AF5E-297E-4C9B-9D46-39237771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855ED-55DA-45D6-9C4E-13D49F7E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88EA6-BB72-4EA9-9E9C-652FD399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59CFA-203F-4603-898F-36546DC7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3252B-16B5-444B-8A0E-BDF032EE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324B"/>
                </a:solidFill>
              </a:defRPr>
            </a:pPr>
            <a:r>
              <a:rPr sz="1875" b="1">
                <a:solidFill>
                  <a:srgbClr val="15324B"/>
                </a:solidFill>
              </a:rPr>
              <a:t>For which patients should the nurse use standard precautions?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2F3A1-C49F-4720-90C7-874454E2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32E6E-22B5-45F3-8979-892DC1B5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B0C18-9257-4534-8349-9992EF5B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181350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All patients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268C4-BCA6-4C00-A57C-C6BB8F1D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0375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D06AD-7BBF-499F-AE40-B5781141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38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EA9043-7DF3-4E3D-9E66-821BADFF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81350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Only patients with a positive culture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1125B3-65FA-4823-A647-D20D99D1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02E53B-D821-4799-8083-65929458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4DA3A6-BF8E-4EFB-8B6B-2B5A55F1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371975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Only patients in private rooms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D6DD04-B6B6-4896-B6C9-063ADD6C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9724D5-1B92-4F96-B222-B3F61666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291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DA863B-6B43-420B-9763-3F434721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71975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Only patients receiving antibiotics</a:t>
            </a:r>
          </a:p>
        </p:txBody>
      </p:sp>
    </p:spTree>
    <p:extLst>
      <p:ext uri="{BB962C8B-B14F-4D97-AF65-F5344CB8AC3E}">
        <p14:creationId xmlns:p14="http://schemas.microsoft.com/office/powerpoint/2010/main" val="11140590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EC385B-7A7B-4326-BDA7-98D514A7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ANSWER AND RATIONALE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B893C-1CE0-42D0-99F3-E2B1E205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The answer is A. Now make the reasoning reusable.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3A9AE-160E-4538-902E-C8A794C8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E519D-EB8F-48BA-96EA-E9752C80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63D06-2278-428F-A5E3-FDB31FAB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7F3E1-8D9D-4FC0-9EF9-91BD2549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54D19-1D49-4747-8BB2-04B2AB89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9347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B784C-279B-4A64-9B3F-9A86901D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24B"/>
                </a:solidFill>
              </a:defRPr>
            </a:pPr>
            <a:r>
              <a:rPr sz="1650" b="1">
                <a:solidFill>
                  <a:srgbClr val="15324B"/>
                </a:solidFill>
              </a:rPr>
              <a:t>Standard precautions apply to every patient and are adjusted to the anticipated exposure.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D7F01-DC15-4AF3-9748-96275AC6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5238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4DD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610D7-FE64-4AC3-A7BA-2E210558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PRIORITY CONCEPT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39D25-195B-4EA8-9145-C2C57DD9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24B"/>
                </a:solidFill>
              </a:defRPr>
            </a:pPr>
            <a:r>
              <a:rPr sz="1650" b="1">
                <a:solidFill>
                  <a:srgbClr val="15324B"/>
                </a:solidFill>
              </a:rPr>
              <a:t>Standard precautions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61F9F-48AF-4544-AAAF-AF6EEA8A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54673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5D8B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8B11BB-775F-40A5-8164-D29E8194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433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6513"/>
                </a:solidFill>
              </a:defRPr>
            </a:pPr>
            <a:r>
              <a:rPr sz="1050" b="1">
                <a:solidFill>
                  <a:srgbClr val="A76513"/>
                </a:solidFill>
              </a:rPr>
              <a:t>TEST-TAKING CLUE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303285-75A0-420A-92FA-A933AC30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148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324B"/>
                </a:solidFill>
              </a:defRPr>
            </a:pPr>
            <a:r>
              <a:rPr sz="1425" b="1">
                <a:solidFill>
                  <a:srgbClr val="15324B"/>
                </a:solidFill>
              </a:rPr>
              <a:t>"Standard" means the baseline for everyone.</a:t>
            </a:r>
          </a:p>
        </p:txBody>
      </p:sp>
    </p:spTree>
    <p:extLst>
      <p:ext uri="{BB962C8B-B14F-4D97-AF65-F5344CB8AC3E}">
        <p14:creationId xmlns:p14="http://schemas.microsoft.com/office/powerpoint/2010/main" val="20306912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1AAC79-F5D1-4662-A102-DE3050E6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TAKE IT WITH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4261C-C78F-4826-83A8-152B6608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Five things worth remembering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6AF18-E3C3-4CEB-A832-4495A72B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8FDCA-BAEB-4D05-9202-0C17263D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E4F90-61C6-4156-9F2B-97C2A49C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Use standard precautions for every patient and task-based exposure.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27FCA-9F99-4D92-8C9B-665223BF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649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75A33-6AD3-4FB5-BAB9-508D7C08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032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B3929-0F9F-4CE9-9BDB-0E3103F2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3174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Add contact, droplet, or airborne controls according to current guidance.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1CF0F-04AC-4FDE-AB38-6A3A6B4E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1086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01A079-789E-4949-817B-695E6757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469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FABF9-F697-4009-9085-43CF0DBC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0611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After contamination or exposure, act immediately and follow the reporting pathway.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7581C-BAEA-4488-8460-98F7EDD2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523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24B1CE-74B0-4698-A6A3-AB1B6536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906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ACB0E8-BECB-4DD0-806D-6A0B65A1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8048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Fall risk is dynamic and must be reassessed after relevant change.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2EF753-714D-483C-B487-A74A9234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960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F7F8F5-8158-4111-829D-32ED85E2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8343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8764AE-DC74-4BA6-814D-B55E0BBD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5485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Individualized assistance, environment, communication, and toileting plans work together.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B075A3-B735-47FD-8326-2A008569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FC3D1"/>
                </a:solidFill>
              </a:defRPr>
            </a:pPr>
            <a:r>
              <a:rPr sz="1050">
                <a:solidFill>
                  <a:srgbClr val="AFC3D1"/>
                </a:solidFill>
              </a:rPr>
              <a:t>Reviewed 2026-07-13. Independent educational study aid. Verify current clinical references, instructor direction, scope, orders, manufacturer instructions, and facility policy.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ADC05C-B251-4D07-A3C7-62D8A3DC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F99AB"/>
                </a:solidFill>
              </a:defRPr>
            </a:pPr>
            <a:r>
              <a:rPr sz="750">
                <a:solidFill>
                  <a:srgbClr val="7F99AB"/>
                </a:solidFill>
              </a:rPr>
              <a:t>Centers for Disease Control and Prevention: Core Infection Prevention and Control Practices | Centers for Disease Control and Prevention: Precautions to Prevent Transmission of Infectious Agents | National Council of State Boards of Nursing: 2026 NCLEX-PN Test Plan</a:t>
            </a:r>
          </a:p>
        </p:txBody>
      </p:sp>
    </p:spTree>
    <p:extLst>
      <p:ext uri="{BB962C8B-B14F-4D97-AF65-F5344CB8AC3E}">
        <p14:creationId xmlns:p14="http://schemas.microsoft.com/office/powerpoint/2010/main" val="15784301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2026-07-13T19:11:11.1780000Z</dcterms:created>
  <dcterms:modified xsi:type="dcterms:W3CDTF">2026-07-13T19:11:11.1780000Z</dcterms:modified>
</coreProperties>
</file>