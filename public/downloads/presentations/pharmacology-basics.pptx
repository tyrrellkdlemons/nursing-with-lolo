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26ecd114d94ec5" /><Relationship Type="http://schemas.openxmlformats.org/officeDocument/2006/relationships/extended-properties" Target="/docProps/app.xml" Id="R5bb9334822ff4430" /><Relationship Type="http://schemas.openxmlformats.org/officeDocument/2006/relationships/officeDocument" Target="/ppt/presentation.xml" Id="R1ae9b8092f2e46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c757b25aa146ef"/>
  </p:sldMasterIdLst>
  <p:notesMasterIdLst>
    <p:notesMasterId xmlns:r="http://schemas.openxmlformats.org/officeDocument/2006/relationships" r:id="R33aa5fedcd854b0a"/>
  </p:notesMasterIdLst>
  <p:sldIdLst>
    <p:sldId xmlns:r="http://schemas.openxmlformats.org/officeDocument/2006/relationships" id="256" r:id="R90caaa3106f347b7"/>
    <p:sldId xmlns:r="http://schemas.openxmlformats.org/officeDocument/2006/relationships" id="257" r:id="R0d304b4d21b04225"/>
    <p:sldId xmlns:r="http://schemas.openxmlformats.org/officeDocument/2006/relationships" id="258" r:id="Rfb857257a4b24c39"/>
    <p:sldId xmlns:r="http://schemas.openxmlformats.org/officeDocument/2006/relationships" id="259" r:id="R43b1e7c0d96b4834"/>
    <p:sldId xmlns:r="http://schemas.openxmlformats.org/officeDocument/2006/relationships" id="260" r:id="Rb40f0f3200cf4b61"/>
    <p:sldId xmlns:r="http://schemas.openxmlformats.org/officeDocument/2006/relationships" id="261" r:id="R5adb6b8b7ec04bba"/>
    <p:sldId xmlns:r="http://schemas.openxmlformats.org/officeDocument/2006/relationships" id="262" r:id="R87c127231e464a7d"/>
    <p:sldId xmlns:r="http://schemas.openxmlformats.org/officeDocument/2006/relationships" id="263" r:id="Rd8e90ff0cd704845"/>
    <p:sldId xmlns:r="http://schemas.openxmlformats.org/officeDocument/2006/relationships" id="264" r:id="Rcd2d8df79c7e4607"/>
    <p:sldId xmlns:r="http://schemas.openxmlformats.org/officeDocument/2006/relationships" id="265" r:id="Rc3b60db701854ad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1b3ace64684a1b" /><Relationship Type="http://schemas.openxmlformats.org/officeDocument/2006/relationships/slideMaster" Target="/ppt/slideMasters/slideMaster1.xml" Id="Rf9c757b25aa146ef" /><Relationship Type="http://schemas.openxmlformats.org/officeDocument/2006/relationships/notesMaster" Target="/ppt/notesMasters/notesMaster1.xml" Id="R33aa5fedcd854b0a" /><Relationship Type="http://schemas.openxmlformats.org/officeDocument/2006/relationships/presProps" Target="/ppt/presProps.xml" Id="Ra3b5ef1653fa42c9" /><Relationship Type="http://schemas.openxmlformats.org/officeDocument/2006/relationships/tableStyles" Target="/ppt/tableStyles.xml" Id="R47a66ee49a0243a1" /><Relationship Type="http://schemas.openxmlformats.org/officeDocument/2006/relationships/slide" Target="/ppt/slides/slide1.xml" Id="R90caaa3106f347b7" /><Relationship Type="http://schemas.openxmlformats.org/officeDocument/2006/relationships/slide" Target="/ppt/slides/slide2.xml" Id="R0d304b4d21b04225" /><Relationship Type="http://schemas.openxmlformats.org/officeDocument/2006/relationships/slide" Target="/ppt/slides/slide3.xml" Id="Rfb857257a4b24c39" /><Relationship Type="http://schemas.openxmlformats.org/officeDocument/2006/relationships/slide" Target="/ppt/slides/slide4.xml" Id="R43b1e7c0d96b4834" /><Relationship Type="http://schemas.openxmlformats.org/officeDocument/2006/relationships/slide" Target="/ppt/slides/slide5.xml" Id="Rb40f0f3200cf4b61" /><Relationship Type="http://schemas.openxmlformats.org/officeDocument/2006/relationships/slide" Target="/ppt/slides/slide6.xml" Id="R5adb6b8b7ec04bba" /><Relationship Type="http://schemas.openxmlformats.org/officeDocument/2006/relationships/slide" Target="/ppt/slides/slide7.xml" Id="R87c127231e464a7d" /><Relationship Type="http://schemas.openxmlformats.org/officeDocument/2006/relationships/slide" Target="/ppt/slides/slide8.xml" Id="Rd8e90ff0cd704845" /><Relationship Type="http://schemas.openxmlformats.org/officeDocument/2006/relationships/slide" Target="/ppt/slides/slide9.xml" Id="Rcd2d8df79c7e4607" /><Relationship Type="http://schemas.openxmlformats.org/officeDocument/2006/relationships/slide" Target="/ppt/slides/slide10.xml" Id="Rc3b60db701854a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d33fdbe6404f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70bff10ffc4738" /><Relationship Type="http://schemas.openxmlformats.org/officeDocument/2006/relationships/notesMaster" Target="/ppt/notesMasters/notesMaster1.xml" Id="R84b2589252514d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b7ccf477644580" /><Relationship Type="http://schemas.openxmlformats.org/officeDocument/2006/relationships/notesMaster" Target="/ppt/notesMasters/notesMaster1.xml" Id="Rffe7b5f1f6114b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590fdfc40e4c2b" /><Relationship Type="http://schemas.openxmlformats.org/officeDocument/2006/relationships/notesMaster" Target="/ppt/notesMasters/notesMaster1.xml" Id="R8e071784802340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559ffa6e764e4c" /><Relationship Type="http://schemas.openxmlformats.org/officeDocument/2006/relationships/notesMaster" Target="/ppt/notesMasters/notesMaster1.xml" Id="Rbe0cb1deb8ac47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579876302f4b8e" /><Relationship Type="http://schemas.openxmlformats.org/officeDocument/2006/relationships/notesMaster" Target="/ppt/notesMasters/notesMaster1.xml" Id="R3b5095c7bc524c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85d398bc5b4a7c" /><Relationship Type="http://schemas.openxmlformats.org/officeDocument/2006/relationships/notesMaster" Target="/ppt/notesMasters/notesMaster1.xml" Id="R80a9448ee0c049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8d0ac0bc0e4ad3" /><Relationship Type="http://schemas.openxmlformats.org/officeDocument/2006/relationships/notesMaster" Target="/ppt/notesMasters/notesMaster1.xml" Id="Rd4e2e84fd33f4f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2f77b72996435a" /><Relationship Type="http://schemas.openxmlformats.org/officeDocument/2006/relationships/notesMaster" Target="/ppt/notesMasters/notesMaster1.xml" Id="R10a7959898ca4c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3e9dd92a074128" /><Relationship Type="http://schemas.openxmlformats.org/officeDocument/2006/relationships/notesMaster" Target="/ppt/notesMasters/notesMaster1.xml" Id="R36c64c8527aa4f2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b8cfc7929f14a34" /><Relationship Type="http://schemas.openxmlformats.org/officeDocument/2006/relationships/notesMaster" Target="/ppt/notesMasters/notesMaster1.xml" Id="Rdefe15ec5bb345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4f82fdde8342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19b40b4ec5480d" /><Relationship Type="http://schemas.openxmlformats.org/officeDocument/2006/relationships/slideLayout" Target="/ppt/slideLayouts/slideLayout1.xml" Id="Rabcfaf89c16f40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cfaf89c16f40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541f07d7204561" /><Relationship Type="http://schemas.openxmlformats.org/officeDocument/2006/relationships/notesSlide" Target="/ppt/notesSlides/notesSlide1.xml" Id="R32250a44b2b143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bb26ec5e37413e" /><Relationship Type="http://schemas.openxmlformats.org/officeDocument/2006/relationships/notesSlide" Target="/ppt/notesSlides/notesSlide2.xml" Id="R35b8df86783d4e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9dda5e05e641d2" /><Relationship Type="http://schemas.openxmlformats.org/officeDocument/2006/relationships/notesSlide" Target="/ppt/notesSlides/notesSlide3.xml" Id="R11022c42e2934e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e8221bd8144cd" /><Relationship Type="http://schemas.openxmlformats.org/officeDocument/2006/relationships/notesSlide" Target="/ppt/notesSlides/notesSlide4.xml" Id="R91f0ec1da60041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0d045125e640d8" /><Relationship Type="http://schemas.openxmlformats.org/officeDocument/2006/relationships/notesSlide" Target="/ppt/notesSlides/notesSlide5.xml" Id="Rd787c119b82f46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87afa6ea34af1" /><Relationship Type="http://schemas.openxmlformats.org/officeDocument/2006/relationships/notesSlide" Target="/ppt/notesSlides/notesSlide6.xml" Id="R559eb7aa87a246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da1341bca44c9" /><Relationship Type="http://schemas.openxmlformats.org/officeDocument/2006/relationships/notesSlide" Target="/ppt/notesSlides/notesSlide7.xml" Id="Rf44c8028c36049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c03b34e51403e" /><Relationship Type="http://schemas.openxmlformats.org/officeDocument/2006/relationships/notesSlide" Target="/ppt/notesSlides/notesSlide8.xml" Id="R744ed331858a4e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716864ef4643f2" /><Relationship Type="http://schemas.openxmlformats.org/officeDocument/2006/relationships/notesSlide" Target="/ppt/notesSlides/notesSlide9.xml" Id="Ra7dc0087d6214b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648809aa148e7" /><Relationship Type="http://schemas.openxmlformats.org/officeDocument/2006/relationships/notesSlide" Target="/ppt/notesSlides/notesSlide10.xml" Id="Rf67762cf566945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317BDA-626F-496B-AD8B-3CB258D0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47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718BE4-D588-4B72-AA40-01F89B99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6C9B5"/>
                </a:solidFill>
              </a:defRPr>
            </a:pPr>
            <a:r>
              <a:rPr sz="1200" b="1">
                <a:solidFill>
                  <a:srgbClr val="26C9B5"/>
                </a:solidFill>
              </a:rPr>
              <a:t>NURSING WITH LOLO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74DFD3-C522-4BA3-A385-00153499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7810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Pharmacology Basics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4475A-7D63-4470-BAF4-513F1FDD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723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C4D6E3"/>
                </a:solidFill>
              </a:defRPr>
            </a:pPr>
            <a:r>
              <a:rPr sz="1725">
                <a:solidFill>
                  <a:srgbClr val="C4D6E3"/>
                </a:solidFill>
              </a:rPr>
              <a:t>Medication classes, safety checks, monitoring, adverse-effect clues, and patient teaching.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B2917D-DFD1-491B-9529-D8B472D8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8637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1A9BB"/>
                </a:solidFill>
              </a:defRPr>
            </a:pPr>
            <a:r>
              <a:rPr sz="1275" b="1">
                <a:solidFill>
                  <a:srgbClr val="91A9BB"/>
                </a:solidFill>
              </a:rPr>
              <a:t>Simple explanations - nursing priorities - original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E65CEE-380F-40B2-B7A2-1EE0FD86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143000"/>
            <a:ext cx="1762125" cy="1762125"/>
          </a:xfrm>
          <a:prstGeom xmlns:a="http://schemas.openxmlformats.org/drawingml/2006/main" prst="roundRect">
            <a:avLst>
              <a:gd name="adj" fmla="val 12973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066FFD-5A16-4408-B744-956FDE7C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6002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6C9B5"/>
                </a:solidFill>
              </a:defRPr>
            </a:pPr>
            <a:r>
              <a:rPr sz="3600" b="1">
                <a:solidFill>
                  <a:srgbClr val="26C9B5"/>
                </a:solidFill>
              </a:rPr>
              <a:t>LOLO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A5DB97-5954-42FD-BD1A-7C840020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62200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STUDY EDITION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5DDD68-0F28-4EC2-B181-68EFF196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29BAD"/>
                </a:solidFill>
              </a:defRPr>
            </a:pPr>
            <a:r>
              <a:rPr sz="825">
                <a:solidFill>
                  <a:srgbClr val="829BAD"/>
                </a:solidFill>
              </a:rPr>
              <a:t>Independent study aid - verify current clinical policy</a:t>
            </a:r>
          </a:p>
        </p:txBody>
      </p:sp>
    </p:spTree>
    <p:extLst>
      <p:ext uri="{BB962C8B-B14F-4D97-AF65-F5344CB8AC3E}">
        <p14:creationId xmlns:p14="http://schemas.microsoft.com/office/powerpoint/2010/main" val="15766741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CD011B-02C7-464E-8D0D-E91280F4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LEARNING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FEBF4B-5698-4BEE-9B12-9C4B0661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By the end, you can...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87F1B5-87C5-49C9-ACF0-CFEBB274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4596A8-8DD3-4A3B-9F7B-9FEE2743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0CFE8-032D-45BB-9B6C-8CB3FFC3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6ED315-235B-441A-946D-C49B5A03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C88F1-85FA-4FCC-B5AA-78E1C699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756285"/>
          </a:xfrm>
          <a:prstGeom xmlns:a="http://schemas.openxmlformats.org/drawingml/2006/main" prst="roundRect">
            <a:avLst>
              <a:gd name="adj" fmla="val 1511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A0E907-3B76-49F7-A52E-6DB9BE1E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C6EC95-10B2-48AC-8063-D830E4C6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57375"/>
            <a:ext cx="10210800" cy="60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Organize common medication classes by purpose, assessment, and safety risk.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551DAD-44B9-4036-94ED-34B89714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32710"/>
            <a:ext cx="10934700" cy="756285"/>
          </a:xfrm>
          <a:prstGeom xmlns:a="http://schemas.openxmlformats.org/drawingml/2006/main" prst="roundRect">
            <a:avLst>
              <a:gd name="adj" fmla="val 1511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2A7628-F008-4940-95E9-F13DD3CE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5653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38DC6E-D15D-42B2-91AF-7142905B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27960"/>
            <a:ext cx="10210800" cy="60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Use a consistent pre-administration and follow-up check.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03CD17-5528-4C1C-8D32-2A2C1140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03295"/>
            <a:ext cx="10934700" cy="756285"/>
          </a:xfrm>
          <a:prstGeom xmlns:a="http://schemas.openxmlformats.org/drawingml/2006/main" prst="roundRect">
            <a:avLst>
              <a:gd name="adj" fmla="val 1511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86CBBF-C7FE-4689-9D4B-BD424CAE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2712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84C08B-9D39-4A98-A205-E0B0FA3F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98545"/>
            <a:ext cx="10210800" cy="60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Recognize adverse-effect patterns that require holding and clarification or urgent escalation.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D47551-14EB-48D1-BDAB-7851B298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73880"/>
            <a:ext cx="10934700" cy="756285"/>
          </a:xfrm>
          <a:prstGeom xmlns:a="http://schemas.openxmlformats.org/drawingml/2006/main" prst="roundRect">
            <a:avLst>
              <a:gd name="adj" fmla="val 1511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FDB48E-94D1-40AF-9860-D4A1118B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770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3A5AC9-C334-4F04-B93F-4B76BA1F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69130"/>
            <a:ext cx="10210800" cy="60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Teach medication safety without directing independent treatment changes.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AA5B18-8C4A-4724-B1C0-2204260D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44465"/>
            <a:ext cx="10934700" cy="756285"/>
          </a:xfrm>
          <a:prstGeom xmlns:a="http://schemas.openxmlformats.org/drawingml/2006/main" prst="roundRect">
            <a:avLst>
              <a:gd name="adj" fmla="val 1511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0CDA9F-EECF-4CBF-B0B4-68BEEBB9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6829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9AA03F-AD96-46BB-9135-E0055E83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39715"/>
            <a:ext cx="10210800" cy="60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Use a consistent safety process from order review through evaluation.</a:t>
            </a:r>
          </a:p>
        </p:txBody>
      </p:sp>
    </p:spTree>
    <p:extLst>
      <p:ext uri="{BB962C8B-B14F-4D97-AF65-F5344CB8AC3E}">
        <p14:creationId xmlns:p14="http://schemas.microsoft.com/office/powerpoint/2010/main" val="18011078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26B63A-2DAC-43BC-B433-AF4ED4F3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EXPLAIN IT SIMPLY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0CCD52-437B-46B1-B25F-96BAD508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Start with the story that makes the details stick.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73D1BF-5188-4A01-9F1C-150D2F56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1F221E-768F-44F9-96FF-302523D0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AB0D98-D576-4805-8F99-340DEBB2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1C793D-1185-4C78-AB31-49CE7AA9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87FFBE-3A8D-4136-B2CA-F6665B93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DED7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CF8695-64D0-4E2D-8EE9-CA82D800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72EA"/>
                </a:solidFill>
              </a:defRPr>
            </a:pPr>
            <a:r>
              <a:rPr sz="1050" b="1">
                <a:solidFill>
                  <a:srgbClr val="8B72E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145D97-5827-478A-9D55-CBFC99B2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57375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For every medication, ask five questions: Why is it given? What must I check first? What effect should occur? What could become dangerous? What must the patient know?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9781EB-07FF-4EC9-A5CC-F2F10A79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0356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DED7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860324-7161-4A5C-87D1-25CC6E7A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4181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72EA"/>
                </a:solidFill>
              </a:defRPr>
            </a:pPr>
            <a:r>
              <a:rPr sz="1050" b="1">
                <a:solidFill>
                  <a:srgbClr val="8B72EA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90A28C-61BE-4260-8739-5F686977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5606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High-yield classes include blood-pressure medicines, diuretics, anticoagulants, glucose-lowering medicines, antimicrobials, analgesics, and medicines affecting mood or breathing.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29A22E-7ECF-44F7-B2DA-D3611C11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38588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DED7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1AE505-8766-4158-81FE-0FEEF887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62413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72EA"/>
                </a:solidFill>
              </a:defRPr>
            </a:pPr>
            <a:r>
              <a:rPr sz="1050" b="1">
                <a:solidFill>
                  <a:srgbClr val="8B72EA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82B765-9006-45C8-9E2D-BF01E0BE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33838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The exact order, patient factors, current references, pharmacist input, and facility policy always outrank memory tricks.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9AF2C4-F75C-4D43-BB1B-B74BF4B3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26819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DED7F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AF2038-CCA9-4E13-B2F8-98B31795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50644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72EA"/>
                </a:solidFill>
              </a:defRPr>
            </a:pPr>
            <a:r>
              <a:rPr sz="1050" b="1">
                <a:solidFill>
                  <a:srgbClr val="8B72EA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EA171B-A1E7-4D79-A529-5C349CF2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22069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Safe administration starts before the medication reaches the bedside. The nurse checks the order, current medication record, patient factors, allergies, product, timing, route, indication, and required assessments.</a:t>
            </a:r>
          </a:p>
        </p:txBody>
      </p:sp>
    </p:spTree>
    <p:extLst>
      <p:ext uri="{BB962C8B-B14F-4D97-AF65-F5344CB8AC3E}">
        <p14:creationId xmlns:p14="http://schemas.microsoft.com/office/powerpoint/2010/main" val="11378626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FF60FD-6D19-4D42-AA1F-98C5EDAE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PRIORITY PATHWAY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E6BDA-BEC2-4BE5-A217-EFCA9C2B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Notice the cue, connect the risk, then choose the safest action.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2B12E4-3B1E-4DBA-8172-31412BF5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0EF529-C036-428F-BF8F-B264F5B8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5DDFB5-A3E2-479B-8B2E-7A44C25A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2E494-09AD-40B7-9541-51A70F40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A83A6E-09F0-4E81-83EF-6FAC9818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59B9F-FCC9-4C8F-94A1-9F5A1F11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570"/>
                </a:solidFill>
              </a:defRPr>
            </a:pPr>
            <a:r>
              <a:rPr sz="1500" b="1">
                <a:solidFill>
                  <a:srgbClr val="168570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479DD5-A9CF-418B-8137-9BD93DD4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For signs of a severe reaction or respiratory compromise, stop the immediate task, call for help, and follow the emergency pathway.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F6EA12-A6ED-4B78-9680-D19CE04A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432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D7286"/>
                </a:solidFill>
              </a:defRPr>
            </a:pPr>
            <a:r>
              <a:rPr sz="1950" b="1">
                <a:solidFill>
                  <a:srgbClr val="5D7286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84715E-1FAF-4997-B98E-D5ADAA22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CDD8F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17DB9D-BF57-4BBD-8F69-9FF80D6D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56FF2"/>
                </a:solidFill>
              </a:defRPr>
            </a:pPr>
            <a:r>
              <a:rPr sz="1500" b="1">
                <a:solidFill>
                  <a:srgbClr val="456FF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521795-0310-440F-871E-740214FC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Hold and clarify when a required check is missing, the order is incomplete, or patient findings conflict with safe administration.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A4BD65-3322-40E1-BF6E-EFC62F69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1432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D7286"/>
                </a:solidFill>
              </a:defRPr>
            </a:pPr>
            <a:r>
              <a:rPr sz="1950" b="1">
                <a:solidFill>
                  <a:srgbClr val="5D7286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6FC79A-0A0F-4DFF-B1BF-AE19D329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363C23-40C8-4C7A-82A2-3C6C9217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570"/>
                </a:solidFill>
              </a:defRPr>
            </a:pPr>
            <a:r>
              <a:rPr sz="1500" b="1">
                <a:solidFill>
                  <a:srgbClr val="168570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3D741C-5879-477A-8A7A-F40FF88B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Treat unexplained bleeding, profound sedation, or an acute neurologic change as urgent until evaluated.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A248E1-97FE-475A-BE06-A33D7977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432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D7286"/>
                </a:solidFill>
              </a:defRPr>
            </a:pPr>
            <a:r>
              <a:rPr sz="1950" b="1">
                <a:solidFill>
                  <a:srgbClr val="5D7286"/>
                </a:solidFill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3EA691-D34F-42EA-817B-448A5F20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CDD8F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A92376-8D0D-4AB3-A6E5-E6A90E0C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56FF2"/>
                </a:solidFill>
              </a:defRPr>
            </a:pPr>
            <a:r>
              <a:rPr sz="1500" b="1">
                <a:solidFill>
                  <a:srgbClr val="456FF2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4AADD1-4D74-408A-9591-38639515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Never bypass a safety alert without completing the required clinical review.</a:t>
            </a:r>
          </a:p>
        </p:txBody>
      </p:sp>
    </p:spTree>
    <p:extLst>
      <p:ext uri="{BB962C8B-B14F-4D97-AF65-F5344CB8AC3E}">
        <p14:creationId xmlns:p14="http://schemas.microsoft.com/office/powerpoint/2010/main" val="17751059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EA1142-5F9A-4360-8A10-E57870B5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ASSESSMENT AND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FDEB5-9D5B-4237-8CAD-B75F831A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Trend the client, not a single number.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374435-984E-4FF7-93ED-32C7358A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4DE7FC-C976-4474-99E9-DE2F5305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790801-C198-4A97-9C29-A7AC427E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DFB527-BF7F-41AC-80F9-5D824EA1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84ADC6-293A-418D-A308-C2AB0301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521970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CFE545-1896-4DA4-8EE8-3DBF82CF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8570"/>
                </a:solidFill>
              </a:defRPr>
            </a:pPr>
            <a:r>
              <a:rPr sz="1125" b="1">
                <a:solidFill>
                  <a:srgbClr val="168570"/>
                </a:solidFill>
              </a:rPr>
              <a:t>WHAT TO NOTICE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EDF3BF-C4E4-49E2-972A-856E65D0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736B3C-8F29-4FCC-9001-030E1E0E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812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2FB629-F3D4-42D8-8723-E9811743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5270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Verify patient, medication, indication, complete order, allergies, relevant baseline findings, and due monitoring.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387F52-5C9B-40EF-89A9-1EF9C458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C474CB-802E-4905-B54B-03EF1EAD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04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C30704-1663-4534-86FC-AE8B0E6A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7185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Check for interactions, duplications, hold parameters, formulation restrictions, and changes since the prior dose.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A79F09-CAB3-4746-9C71-87C47AF9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28CF37-B2CF-4707-9994-D9756CAF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95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C736D6-92A5-44A2-8DCE-D3733CD6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9100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Assess the intended response and class-related adverse-effect pattern after administration.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0FE7D3-2B8B-4917-B971-76FF6BC7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205FDC-8265-4D4A-90A0-B22F4173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387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374C32-BE98-47A6-A359-14B8FAC6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1015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Compare the home list, new orders, and discharge list during transitions and escalate discrepancies.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54CF49-B1DE-4B02-A417-50C4DB51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62125"/>
            <a:ext cx="546735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A56E85-7135-47B8-BD3A-78776A52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19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455D"/>
                </a:solidFill>
              </a:defRPr>
            </a:pPr>
            <a:r>
              <a:rPr sz="1125" b="1">
                <a:solidFill>
                  <a:srgbClr val="C8455D"/>
                </a:solidFill>
              </a:rPr>
              <a:t>WHAT CAN HARM THE CLIENT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DA101B-2A79-42B1-858F-7D909E54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50482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BD379C-9C78-4CA6-ADDD-FDF97DC4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812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7C8E"/>
                </a:solidFill>
              </a:defRPr>
            </a:pPr>
            <a:r>
              <a:rPr sz="1050" b="1">
                <a:solidFill>
                  <a:srgbClr val="F17C8E"/>
                </a:solidFill>
              </a:rPr>
              <a:t>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B85CA4-44CD-4906-8948-D5D3562D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52700"/>
            <a:ext cx="4324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A drug-name suffix is a study clue, not proof of class, indication, or safety.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7BB826-7063-4D61-BE02-6CD6E36D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76600"/>
            <a:ext cx="50482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9D5FC9-4319-4037-9D23-7602C30F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04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7C8E"/>
                </a:solidFill>
              </a:defRPr>
            </a:pPr>
            <a:r>
              <a:rPr sz="1050" b="1">
                <a:solidFill>
                  <a:srgbClr val="F17C8E"/>
                </a:solidFill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5506EF-DB59-4D57-AC94-8B621E07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71850"/>
            <a:ext cx="4324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Never assume a familiar medication is safe for this patient today without current checks.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E16F16-45A0-4A96-8F46-F36DE3FD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50482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C1BEB5-A1A6-4C04-8FD7-91DD9E80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195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7C8E"/>
                </a:solidFill>
              </a:defRPr>
            </a:pPr>
            <a:r>
              <a:rPr sz="1050" b="1">
                <a:solidFill>
                  <a:srgbClr val="F17C8E"/>
                </a:solidFill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AEEC28-F920-4613-A9F1-F0AE1B99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4324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Do not use a trailing zero or omit a leading zero in handwritten medication notation.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66081A-05B8-43E3-A928-A382ECD1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14900"/>
            <a:ext cx="50482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910373-0AF9-4D7C-9D46-230A2342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387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7C8E"/>
                </a:solidFill>
              </a:defRPr>
            </a:pPr>
            <a:r>
              <a:rPr sz="1050" b="1">
                <a:solidFill>
                  <a:srgbClr val="F17C8E"/>
                </a:solidFill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7CCBA7-9587-4183-9085-74AD28EF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10150"/>
            <a:ext cx="4324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Do not advise abrupt medication changes unless carrying out a valid order within scope.</a:t>
            </a:r>
          </a:p>
        </p:txBody>
      </p:sp>
    </p:spTree>
    <p:extLst>
      <p:ext uri="{BB962C8B-B14F-4D97-AF65-F5344CB8AC3E}">
        <p14:creationId xmlns:p14="http://schemas.microsoft.com/office/powerpoint/2010/main" val="9059203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97BC36-F20D-4F4B-A404-73D09AD9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MEMORY THAT TRANSFERS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845EFD-D306-4E20-B8C7-8C4D0AFB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Use the hook - then return to the clinical why.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A8C0FC-3906-4FC8-8740-CF99DE96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5219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13951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942086-007E-4A00-8136-7D0B980D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C9B5"/>
                </a:solidFill>
              </a:defRPr>
            </a:pPr>
            <a:r>
              <a:rPr sz="3300" b="1">
                <a:solidFill>
                  <a:srgbClr val="26C9B5"/>
                </a:solidFill>
              </a:rPr>
              <a:t>"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3B2FA-3B9F-4F47-84DB-BC9B367F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10502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CLASS: Check first, Link purpose, Assess response, Spot danger, Share teaching.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ADDB4-D999-4678-8EC8-339326E2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219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73A60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14C54-EA2B-4F13-805E-CE20DA79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24050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C9B5"/>
                </a:solidFill>
              </a:defRPr>
            </a:pPr>
            <a:r>
              <a:rPr sz="3300" b="1">
                <a:solidFill>
                  <a:srgbClr val="26C9B5"/>
                </a:solidFill>
              </a:rPr>
              <a:t>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C63CA-C51C-45C8-A330-A066B1C9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10502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 medication can be right on the list and wrong for the patient right now.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056C6F-5733-4C08-AD23-F190E711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5219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13951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DCCFED-56E7-443E-9B74-2FC43B99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7667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C9B5"/>
                </a:solidFill>
              </a:defRPr>
            </a:pPr>
            <a:r>
              <a:rPr sz="3300" b="1">
                <a:solidFill>
                  <a:srgbClr val="26C9B5"/>
                </a:solidFill>
              </a:rPr>
              <a:t>"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CE5970-FD9D-4B2A-B486-9A774A76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57650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Bleeding, breathing, brain change: stop and escalate the safety concern.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907C01-4ED8-47A7-9FA2-33492634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62375"/>
            <a:ext cx="5219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73A60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8CA26D-EF9A-4F4F-AD25-E4A00210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7667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C9B5"/>
                </a:solidFill>
              </a:defRPr>
            </a:pPr>
            <a:r>
              <a:rPr sz="3300" b="1">
                <a:solidFill>
                  <a:srgbClr val="26C9B5"/>
                </a:solidFill>
              </a:rPr>
              <a:t>"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AF1260-9658-43E3-9E1E-F63F7107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057650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STOP at mismatch: Suspend, Trace, Obtain clarification, Proceed only when resolved.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CB260F-6BF9-432E-B7A2-D2A2D526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FA7B8"/>
                </a:solidFill>
              </a:defRPr>
            </a:pPr>
            <a:r>
              <a:rPr sz="825">
                <a:solidFill>
                  <a:srgbClr val="8FA7B8"/>
                </a:solidFill>
              </a:rPr>
              <a:t>Memory aids support recall; current clinical references and policy guide care.</a:t>
            </a:r>
          </a:p>
        </p:txBody>
      </p:sp>
    </p:spTree>
    <p:extLst>
      <p:ext uri="{BB962C8B-B14F-4D97-AF65-F5344CB8AC3E}">
        <p14:creationId xmlns:p14="http://schemas.microsoft.com/office/powerpoint/2010/main" val="15313187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05B315-79BA-443B-8A32-ECE51703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CLINICAL JUDGMENT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F4D2DB-FB1E-45FD-96DF-E1CC50AF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A changing client turns facts into decisions.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41C344-0036-4EA4-9087-78E85A9A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970EF5-8444-49AC-A992-078A585A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46284-410E-4C4F-AE85-A15963CE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C9D8C3-31FD-4DAD-9132-1209D4B6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185B73-48E7-43FF-B521-733B517B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10934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4DDF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84545D-43E0-43B0-BA0E-4A3FB27C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324B"/>
                </a:solidFill>
              </a:defRPr>
            </a:pPr>
            <a:r>
              <a:rPr sz="1425" b="1">
                <a:solidFill>
                  <a:srgbClr val="15324B"/>
                </a:solidFill>
              </a:rPr>
              <a:t>Before giving a scheduled sedating pain medicine, the nurse finds the patient much harder to awaken than earlier.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5DB1A2-B5B8-4400-A6B6-7A73B6DC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05125"/>
            <a:ext cx="33909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6C9B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71F68E-081D-44C3-B774-CF931F8D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146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6C9B5"/>
                </a:solidFill>
              </a:defRPr>
            </a:pPr>
            <a:r>
              <a:rPr sz="1125" b="1">
                <a:solidFill>
                  <a:srgbClr val="26C9B5"/>
                </a:solidFill>
              </a:rPr>
              <a:t>NOTICE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612822-143D-45B1-921D-8AF5CE9C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3000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New reduced alertness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A medication that can worsen sedation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Change from 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59670F-ACAB-4F56-8565-5A958308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05125"/>
            <a:ext cx="33909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56F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153588-7012-49AB-ADAD-234B5AEE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146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56FF2"/>
                </a:solidFill>
              </a:defRPr>
            </a:pPr>
            <a:r>
              <a:rPr sz="1125" b="1">
                <a:solidFill>
                  <a:srgbClr val="456FF2"/>
                </a:solidFill>
              </a:rPr>
              <a:t>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765205-EACC-42D3-B60A-A8BC82CB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24250"/>
            <a:ext cx="3000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Administration may add risk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Breathing and neurologic status need immediate focused assessment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3DFBBA-593F-499D-83CA-3B71E4E2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05125"/>
            <a:ext cx="33909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17C8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AACC27-84F6-43C8-A8EC-B390519C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146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17C8E"/>
                </a:solidFill>
              </a:defRPr>
            </a:pPr>
            <a:r>
              <a:rPr sz="1125" b="1">
                <a:solidFill>
                  <a:srgbClr val="F17C8E"/>
                </a:solidFill>
              </a:rPr>
              <a:t>RESPOND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227C0B-686B-4E03-8F57-24D21D65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24250"/>
            <a:ext cx="3000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Do not administer until the change is evaluated and the order is clarified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Assess airway, breathing, circulation, alertness, and relevant vital signs within role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Notify the appropriate clinician and follow the deterioration pathway if unstable</a:t>
            </a:r>
          </a:p>
        </p:txBody>
      </p:sp>
    </p:spTree>
    <p:extLst>
      <p:ext uri="{BB962C8B-B14F-4D97-AF65-F5344CB8AC3E}">
        <p14:creationId xmlns:p14="http://schemas.microsoft.com/office/powerpoint/2010/main" val="512757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A9066C-561F-43B9-8F0D-012AB06A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PRACTICE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C6322-74EE-4D97-9D34-03D234B0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Choose before you look at the rationale.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AD5C21-57B1-4E4E-B722-CF47CF4F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78F964-C195-4124-89A1-D91BD289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134B2-B4C7-4DBE-8634-DD3D8B4B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CA3939-DD45-424E-AE5A-EFA436CF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097112-0B4E-417B-B1E3-2D2805C7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324B"/>
                </a:solidFill>
              </a:defRPr>
            </a:pPr>
            <a:r>
              <a:rPr sz="1875" b="1">
                <a:solidFill>
                  <a:srgbClr val="15324B"/>
                </a:solidFill>
              </a:rPr>
              <a:t>Before a scheduled sedating medicine, the patient is newly difficult to awaken. What should the nurse do first?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AC9C03-7A37-47CA-9387-FFD06856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0375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1EE5DD-931C-45CC-9CAC-31B91894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81E1F2-295F-4B7A-A813-75ECE7B3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181350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Hold the medicine and assess breathing and responsiveness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1426A4-45AE-419D-A604-D8A459D8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0375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0AA868-6900-404F-843B-661F8F31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385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DFF369-F1C2-46D5-A200-846871CD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81350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Give it to keep the schedule exact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9D1286-17B1-40E4-800A-198CBC98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EFC711-0B74-4347-93BA-6D6E3EE4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48223C-EE0D-4B61-A35F-BDA6DDFA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371975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Document "sleeping" and leave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3B7CBC-DF29-46B7-865C-E0C38878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91000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028DB0-2865-49E8-8F01-B56FDBC8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291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0FE2B6-2783-4B16-B353-C1B5B9A5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71975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Ask a visitor to monitor the patient</a:t>
            </a:r>
          </a:p>
        </p:txBody>
      </p:sp>
    </p:spTree>
    <p:extLst>
      <p:ext uri="{BB962C8B-B14F-4D97-AF65-F5344CB8AC3E}">
        <p14:creationId xmlns:p14="http://schemas.microsoft.com/office/powerpoint/2010/main" val="9525027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25A41F-4613-4C95-BF6A-A2E776E0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ANSWER AND RATIONALE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15396A-14C1-46D1-8D90-27DCD744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The answer is A. Now make the reasoning reusable.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D36B8A-52FF-4430-BF21-54A1AECA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B954D-F788-4252-B9C5-6ACD339C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F3A15-E957-4CEE-88F4-7EA88CAC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EF743-0E82-40FC-B74D-8CCB51B5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95D549-806A-442A-979B-FF8F4DA9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109347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373370-04A2-4E74-B50E-CB6E41AC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324B"/>
                </a:solidFill>
              </a:defRPr>
            </a:pPr>
            <a:r>
              <a:rPr sz="1650" b="1">
                <a:solidFill>
                  <a:srgbClr val="15324B"/>
                </a:solidFill>
              </a:rPr>
              <a:t>A major change in alertness can signal deterioration and can be worsened by a sedating medicine. Assessment and escalation precede administration.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3FB398-54A9-4DEB-B626-5CB46F5B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5238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4DD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E06FE8-E2E6-4F47-AA2E-686BC80D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PRIORITY CONCEPT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3F8956-C015-48C9-89CE-4AB69BB9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324B"/>
                </a:solidFill>
              </a:defRPr>
            </a:pPr>
            <a:r>
              <a:rPr sz="1650" b="1">
                <a:solidFill>
                  <a:srgbClr val="15324B"/>
                </a:solidFill>
              </a:rPr>
              <a:t>Sedation and breathing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BD938-92EB-404C-BE6D-D7E204F8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05250"/>
            <a:ext cx="54673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F5D8B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FD9C4D-37C6-445B-AACB-850BE62F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4337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76513"/>
                </a:solidFill>
              </a:defRPr>
            </a:pPr>
            <a:r>
              <a:rPr sz="1050" b="1">
                <a:solidFill>
                  <a:srgbClr val="A76513"/>
                </a:solidFill>
              </a:rPr>
              <a:t>TEST-TAKING CLUE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B2148F-2088-4603-B51C-56F0A326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14850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324B"/>
                </a:solidFill>
              </a:defRPr>
            </a:pPr>
            <a:r>
              <a:rPr sz="1425" b="1">
                <a:solidFill>
                  <a:srgbClr val="15324B"/>
                </a:solidFill>
              </a:rPr>
              <a:t>Link the current finding to what the medicine could worsen.</a:t>
            </a:r>
          </a:p>
        </p:txBody>
      </p:sp>
    </p:spTree>
    <p:extLst>
      <p:ext uri="{BB962C8B-B14F-4D97-AF65-F5344CB8AC3E}">
        <p14:creationId xmlns:p14="http://schemas.microsoft.com/office/powerpoint/2010/main" val="9768744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B8C0FF-195F-4D4D-ADD1-3FF0264A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TAKE IT WITH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0147A1-EB98-4E3E-8A87-8CAEEEF3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01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Five things worth remembering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CD42E-1873-4C09-934D-3C1934F5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588645"/>
          </a:xfrm>
          <a:prstGeom xmlns:a="http://schemas.openxmlformats.org/drawingml/2006/main" prst="roundRect">
            <a:avLst>
              <a:gd name="adj" fmla="val 19417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CE9A5B-2416-49D7-88A1-0F1D06D3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D4D60-D0D5-4F4D-BE7E-42F938B9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57375"/>
            <a:ext cx="102108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Learn classes through purpose, checks, expected response, danger pattern, and teaching.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BB65E0-1B26-4DC2-81C0-A24714A1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6495"/>
            <a:ext cx="10934700" cy="588645"/>
          </a:xfrm>
          <a:prstGeom xmlns:a="http://schemas.openxmlformats.org/drawingml/2006/main" prst="roundRect">
            <a:avLst>
              <a:gd name="adj" fmla="val 19417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A82358-AA20-4F30-B1C7-3FA115F7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6032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C307EB-93DC-429A-9A1A-60D42717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31745"/>
            <a:ext cx="102108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Hold and clarify when the order or current assessment is unsafe or incomplete.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95D8DD-0D22-4064-A3CB-AE561F69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10865"/>
            <a:ext cx="10934700" cy="588645"/>
          </a:xfrm>
          <a:prstGeom xmlns:a="http://schemas.openxmlformats.org/drawingml/2006/main" prst="roundRect">
            <a:avLst>
              <a:gd name="adj" fmla="val 19417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984FCE-E6C5-4EBB-9AA7-A32ADA0D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469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ACE88D-41E8-4153-BE01-531D68F0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06115"/>
            <a:ext cx="102108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Use current references, pharmacist support, and facility safeguards rather than memory alone.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C022D-E962-4FA2-B0FA-40400525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85235"/>
            <a:ext cx="10934700" cy="588645"/>
          </a:xfrm>
          <a:prstGeom xmlns:a="http://schemas.openxmlformats.org/drawingml/2006/main" prst="roundRect">
            <a:avLst>
              <a:gd name="adj" fmla="val 19417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13E92D-88E4-424C-9361-2F53972E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906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9B7538-B748-42D6-A775-42E75C42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80485"/>
            <a:ext cx="102108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Use a consistent verify-assess-explain-administer-evaluate process.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405296-A4A4-48E0-A27D-F5A721F7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9605"/>
            <a:ext cx="10934700" cy="588645"/>
          </a:xfrm>
          <a:prstGeom xmlns:a="http://schemas.openxmlformats.org/drawingml/2006/main" prst="roundRect">
            <a:avLst>
              <a:gd name="adj" fmla="val 19417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EC9937-AF28-46C0-8E0D-D0EDB75B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8343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8B488B-9A00-4212-B6AA-69B9FFBC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54855"/>
            <a:ext cx="102108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Stop and resolve any mismatch before medication reaches the patient.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E6F653-98BA-4C98-80F3-03825ECD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FC3D1"/>
                </a:solidFill>
              </a:defRPr>
            </a:pPr>
            <a:r>
              <a:rPr sz="1050">
                <a:solidFill>
                  <a:srgbClr val="AFC3D1"/>
                </a:solidFill>
              </a:rPr>
              <a:t>Reviewed 2026-07-13. Independent educational study aid. Verify current clinical references, instructor direction, scope, orders, manufacturer instructions, and facility policy.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D9D455-ABEB-4DFF-BF82-82A58205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15050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F99AB"/>
                </a:solidFill>
              </a:defRPr>
            </a:pPr>
            <a:r>
              <a:rPr sz="750">
                <a:solidFill>
                  <a:srgbClr val="7F99AB"/>
                </a:solidFill>
              </a:rPr>
              <a:t>U.S. Food and Drug Administration: Medication Errors Related to CDER-Regulated Drug Products | AHRQ Patient Safety Network: Medication Administration Errors | National Council of State Boards of Nursing: 2026 NCLEX-PN Test Plan</a:t>
            </a:r>
          </a:p>
        </p:txBody>
      </p:sp>
    </p:spTree>
    <p:extLst>
      <p:ext uri="{BB962C8B-B14F-4D97-AF65-F5344CB8AC3E}">
        <p14:creationId xmlns:p14="http://schemas.microsoft.com/office/powerpoint/2010/main" val="18588451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2026-07-13T19:10:37.0220000Z</dcterms:created>
  <dcterms:modified xsi:type="dcterms:W3CDTF">2026-07-13T19:10:37.0220000Z</dcterms:modified>
</coreProperties>
</file>