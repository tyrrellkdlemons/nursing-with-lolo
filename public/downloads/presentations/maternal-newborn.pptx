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d81dfdd16049a5" /><Relationship Type="http://schemas.openxmlformats.org/officeDocument/2006/relationships/extended-properties" Target="/docProps/app.xml" Id="Rcc90a2d510f94ad0" /><Relationship Type="http://schemas.openxmlformats.org/officeDocument/2006/relationships/officeDocument" Target="/ppt/presentation.xml" Id="Ra8c84db9f8a5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ff8416f2bc4d5d"/>
  </p:sldMasterIdLst>
  <p:notesMasterIdLst>
    <p:notesMasterId xmlns:r="http://schemas.openxmlformats.org/officeDocument/2006/relationships" r:id="Rb7d1931b6f804400"/>
  </p:notesMasterIdLst>
  <p:sldIdLst>
    <p:sldId xmlns:r="http://schemas.openxmlformats.org/officeDocument/2006/relationships" id="256" r:id="Ra8b7eb6e238c4eaf"/>
    <p:sldId xmlns:r="http://schemas.openxmlformats.org/officeDocument/2006/relationships" id="257" r:id="R6a5cba5cc1e84436"/>
    <p:sldId xmlns:r="http://schemas.openxmlformats.org/officeDocument/2006/relationships" id="258" r:id="R37917190f8f94826"/>
    <p:sldId xmlns:r="http://schemas.openxmlformats.org/officeDocument/2006/relationships" id="259" r:id="Rcfcbcb5d84db492c"/>
    <p:sldId xmlns:r="http://schemas.openxmlformats.org/officeDocument/2006/relationships" id="260" r:id="R621c88a9da514630"/>
    <p:sldId xmlns:r="http://schemas.openxmlformats.org/officeDocument/2006/relationships" id="261" r:id="R15654350199c47d5"/>
    <p:sldId xmlns:r="http://schemas.openxmlformats.org/officeDocument/2006/relationships" id="262" r:id="R54f59e0ab1aa43f2"/>
    <p:sldId xmlns:r="http://schemas.openxmlformats.org/officeDocument/2006/relationships" id="263" r:id="Rb123bf2e17ab4f6f"/>
    <p:sldId xmlns:r="http://schemas.openxmlformats.org/officeDocument/2006/relationships" id="264" r:id="R84f44ef9f3a24465"/>
    <p:sldId xmlns:r="http://schemas.openxmlformats.org/officeDocument/2006/relationships" id="265" r:id="R34f17943a7ad4f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e5085eb6a458c" /><Relationship Type="http://schemas.openxmlformats.org/officeDocument/2006/relationships/slideMaster" Target="/ppt/slideMasters/slideMaster1.xml" Id="R03ff8416f2bc4d5d" /><Relationship Type="http://schemas.openxmlformats.org/officeDocument/2006/relationships/notesMaster" Target="/ppt/notesMasters/notesMaster1.xml" Id="Rb7d1931b6f804400" /><Relationship Type="http://schemas.openxmlformats.org/officeDocument/2006/relationships/presProps" Target="/ppt/presProps.xml" Id="R870c0707aa134c92" /><Relationship Type="http://schemas.openxmlformats.org/officeDocument/2006/relationships/tableStyles" Target="/ppt/tableStyles.xml" Id="R5c464fd08d864bdf" /><Relationship Type="http://schemas.openxmlformats.org/officeDocument/2006/relationships/slide" Target="/ppt/slides/slide1.xml" Id="Ra8b7eb6e238c4eaf" /><Relationship Type="http://schemas.openxmlformats.org/officeDocument/2006/relationships/slide" Target="/ppt/slides/slide2.xml" Id="R6a5cba5cc1e84436" /><Relationship Type="http://schemas.openxmlformats.org/officeDocument/2006/relationships/slide" Target="/ppt/slides/slide3.xml" Id="R37917190f8f94826" /><Relationship Type="http://schemas.openxmlformats.org/officeDocument/2006/relationships/slide" Target="/ppt/slides/slide4.xml" Id="Rcfcbcb5d84db492c" /><Relationship Type="http://schemas.openxmlformats.org/officeDocument/2006/relationships/slide" Target="/ppt/slides/slide5.xml" Id="R621c88a9da514630" /><Relationship Type="http://schemas.openxmlformats.org/officeDocument/2006/relationships/slide" Target="/ppt/slides/slide6.xml" Id="R15654350199c47d5" /><Relationship Type="http://schemas.openxmlformats.org/officeDocument/2006/relationships/slide" Target="/ppt/slides/slide7.xml" Id="R54f59e0ab1aa43f2" /><Relationship Type="http://schemas.openxmlformats.org/officeDocument/2006/relationships/slide" Target="/ppt/slides/slide8.xml" Id="Rb123bf2e17ab4f6f" /><Relationship Type="http://schemas.openxmlformats.org/officeDocument/2006/relationships/slide" Target="/ppt/slides/slide9.xml" Id="R84f44ef9f3a24465" /><Relationship Type="http://schemas.openxmlformats.org/officeDocument/2006/relationships/slide" Target="/ppt/slides/slide10.xml" Id="R34f17943a7ad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40c89a8354e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82cc05d1c64f1c" /><Relationship Type="http://schemas.openxmlformats.org/officeDocument/2006/relationships/notesMaster" Target="/ppt/notesMasters/notesMaster1.xml" Id="Rb2793b931cbf4d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f336a1ac04052" /><Relationship Type="http://schemas.openxmlformats.org/officeDocument/2006/relationships/notesMaster" Target="/ppt/notesMasters/notesMaster1.xml" Id="Rc065239a8b3641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291cdcdcd04cc5" /><Relationship Type="http://schemas.openxmlformats.org/officeDocument/2006/relationships/notesMaster" Target="/ppt/notesMasters/notesMaster1.xml" Id="Rfa83b049cd394e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cbdc61535446c9" /><Relationship Type="http://schemas.openxmlformats.org/officeDocument/2006/relationships/notesMaster" Target="/ppt/notesMasters/notesMaster1.xml" Id="Rbd54a0af1c8240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18970a62d946a9" /><Relationship Type="http://schemas.openxmlformats.org/officeDocument/2006/relationships/notesMaster" Target="/ppt/notesMasters/notesMaster1.xml" Id="R8b32e63ba71a49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b24379b3734ae1" /><Relationship Type="http://schemas.openxmlformats.org/officeDocument/2006/relationships/notesMaster" Target="/ppt/notesMasters/notesMaster1.xml" Id="Re25bab3a190f49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7ff5edcbd44c9e" /><Relationship Type="http://schemas.openxmlformats.org/officeDocument/2006/relationships/notesMaster" Target="/ppt/notesMasters/notesMaster1.xml" Id="Rb705a676fd4b45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ba13a4598f432c" /><Relationship Type="http://schemas.openxmlformats.org/officeDocument/2006/relationships/notesMaster" Target="/ppt/notesMasters/notesMaster1.xml" Id="R1c1170882c9b48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d394b84ed340dc" /><Relationship Type="http://schemas.openxmlformats.org/officeDocument/2006/relationships/notesMaster" Target="/ppt/notesMasters/notesMaster1.xml" Id="Rcc2e2d7a29eb4c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1b6424086a4997" /><Relationship Type="http://schemas.openxmlformats.org/officeDocument/2006/relationships/notesMaster" Target="/ppt/notesMasters/notesMaster1.xml" Id="R54d62879c85b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ca9e0cc1443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a0081c9583424d" /><Relationship Type="http://schemas.openxmlformats.org/officeDocument/2006/relationships/slideLayout" Target="/ppt/slideLayouts/slideLayout1.xml" Id="R53908e384e9f4b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908e384e9f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80ee3055f4198" /><Relationship Type="http://schemas.openxmlformats.org/officeDocument/2006/relationships/notesSlide" Target="/ppt/notesSlides/notesSlide1.xml" Id="R9a565361229d4a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588807a4c4b2b" /><Relationship Type="http://schemas.openxmlformats.org/officeDocument/2006/relationships/notesSlide" Target="/ppt/notesSlides/notesSlide2.xml" Id="R4469fe604f7944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43607c0774edb" /><Relationship Type="http://schemas.openxmlformats.org/officeDocument/2006/relationships/notesSlide" Target="/ppt/notesSlides/notesSlide3.xml" Id="Rb163f16bcaa448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0c22c2d124df3" /><Relationship Type="http://schemas.openxmlformats.org/officeDocument/2006/relationships/notesSlide" Target="/ppt/notesSlides/notesSlide4.xml" Id="R7f1e431696d847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d8ef1012540dd" /><Relationship Type="http://schemas.openxmlformats.org/officeDocument/2006/relationships/notesSlide" Target="/ppt/notesSlides/notesSlide5.xml" Id="Rb3062f68f74f43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b6625b2574229" /><Relationship Type="http://schemas.openxmlformats.org/officeDocument/2006/relationships/notesSlide" Target="/ppt/notesSlides/notesSlide6.xml" Id="R5de47ec206674f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49d2098144ab3" /><Relationship Type="http://schemas.openxmlformats.org/officeDocument/2006/relationships/notesSlide" Target="/ppt/notesSlides/notesSlide7.xml" Id="R6d4d948e773343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6700f18884900" /><Relationship Type="http://schemas.openxmlformats.org/officeDocument/2006/relationships/notesSlide" Target="/ppt/notesSlides/notesSlide8.xml" Id="R3b4ea7fadaa049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feaa75a7547d4" /><Relationship Type="http://schemas.openxmlformats.org/officeDocument/2006/relationships/notesSlide" Target="/ppt/notesSlides/notesSlide9.xml" Id="Rf460a914ba1c45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33cab4e0b4101" /><Relationship Type="http://schemas.openxmlformats.org/officeDocument/2006/relationships/notesSlide" Target="/ppt/notesSlides/notesSlide10.xml" Id="Rb6ae6ed3b7b542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CC097-43E5-4D97-9F51-E0A0600B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15B19-73DE-426A-B466-646F16BE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63416-1434-4EBE-B376-0B3D5986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Maternal and Newborn Nursing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6FF4B-3589-4FD0-91C5-70FBF0B2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Prenatal, labor, postpartum, and newborn recognition and safety priorities.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A544A-539A-4251-AA71-FD69C1E4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7193E-79DA-4726-8E27-21B3613D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68DB1-02AB-4706-9F61-432504A8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E8D21-FA67-4ACD-A1DF-642FD31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7EB3D-B534-4CDA-8256-36037665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607531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CAEF41-F215-42CC-8B67-9FD540C4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6C8B2-60E1-490A-B0D6-06C5585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881FF-112D-41E8-98D3-CD2941D8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BA11A-8214-4362-9358-9204EBD8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3ABDD-D937-4F4F-A679-F7DDEC0A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AEF85-A76C-4CB4-B244-5138F36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4F448-4149-46EC-8318-736DA94C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51A96-3E53-48F8-812C-479C505B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C6E13-B65A-4361-94E8-4D794AF9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Connect prenatal findings with maternal and fetal safety.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11BA6-E9A3-4E35-8A2E-AF24F864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537E3-81AA-448B-8279-BF720A34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462A2-CEF3-4B17-B36E-325F4E5D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Recognize priority changes during labor and postpartum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A1F41-76A5-4CD3-ABC9-B4E248D6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1B195-693B-4694-BF55-4197790D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5C6EE-68AD-4373-94E6-DB78913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Describe a safe first assessment of a transitioning newborn.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2A58A-0503-42DD-A86C-75424587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5EDC2-493F-4391-A634-91BB6DE2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821C0-998C-4E28-81B7-0634B71B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role-appropriate communication when a finding is concerning.</a:t>
            </a:r>
          </a:p>
        </p:txBody>
      </p:sp>
    </p:spTree>
    <p:extLst>
      <p:ext uri="{BB962C8B-B14F-4D97-AF65-F5344CB8AC3E}">
        <p14:creationId xmlns:p14="http://schemas.microsoft.com/office/powerpoint/2010/main" val="138599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8407D4-5027-4893-9C5D-D605DEAD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DCFA9-EC5B-4002-8D5D-8C653CE9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6B1C7-496C-4355-B75F-11C5371F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2677C-7274-474F-AC46-F7428D30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48F2F-06B4-4969-8DA2-F9C6129F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46ED6-92C0-4167-8F22-0220521E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F67F1-2757-4242-9CCF-91D4316F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1336675"/>
          </a:xfrm>
          <a:prstGeom xmlns:a="http://schemas.openxmlformats.org/drawingml/2006/main" prst="roundRect">
            <a:avLst>
              <a:gd name="adj" fmla="val 8551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718CF-B96B-4033-AB6F-26F3BE4C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C64B4-0F61-4436-98C0-0E8EF09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118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Think of maternal-newborn care as two connected patients whose needs change across four stages: pregnancy, labor, recovery, and newborn adaptation.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D05E3-E09B-4B4C-8193-2F7692D1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3100"/>
            <a:ext cx="10934700" cy="1336675"/>
          </a:xfrm>
          <a:prstGeom xmlns:a="http://schemas.openxmlformats.org/drawingml/2006/main" prst="roundRect">
            <a:avLst>
              <a:gd name="adj" fmla="val 8551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F81FB-A088-401D-8FAD-90EC9345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69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69F8A-C882-4118-8E5A-5A8ABAF6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8350"/>
            <a:ext cx="10210800" cy="118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Start with stability: breathing, circulation, bleeding, level of responsiveness, pain pattern, and any sudden change from baseline.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3596A-C676-4FA2-888B-5019152F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4075"/>
            <a:ext cx="10934700" cy="1336675"/>
          </a:xfrm>
          <a:prstGeom xmlns:a="http://schemas.openxmlformats.org/drawingml/2006/main" prst="roundRect">
            <a:avLst>
              <a:gd name="adj" fmla="val 8551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BF456-BC00-431F-A736-85016211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7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27C2F-83AF-4D26-B8FE-3963AA58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59325"/>
            <a:ext cx="10210800" cy="118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Gather focused facts, stay with an unstable patient, and notify the appropriate licensed clinician or response team according to policy.</a:t>
            </a:r>
          </a:p>
        </p:txBody>
      </p:sp>
    </p:spTree>
    <p:extLst>
      <p:ext uri="{BB962C8B-B14F-4D97-AF65-F5344CB8AC3E}">
        <p14:creationId xmlns:p14="http://schemas.microsoft.com/office/powerpoint/2010/main" val="148072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CD0353-9A7C-4605-8B33-D5936486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A951D-88C4-455D-864C-DC2FC2D2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3334F-33E8-45E5-857E-A706CA50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8AB00-DD75-4EAF-B900-1A4DD58D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A8B86-C344-49DD-B173-622D01ED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0C837-5EA6-456D-8B38-DC3EA8A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75F85-3B6D-4C2A-8592-111EED3E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1F53F-F92E-44CD-806C-C06D2D21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5F7A2-2E06-45DF-B854-017368A6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For instability, remain with the patient, call for help, and support airway, breathing, and circulation within training.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121B0-963B-4DEF-B86F-1B718D38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FC655-BB97-49D2-AECD-18E9BAEF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CB8FF-0418-422D-A256-EA577C1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17746-8C78-40BE-BF76-83F3A291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Treat a sudden increase in bleeding or change in responsiveness as urgent and activate the facility pathway.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722BC-B400-41AE-B21F-0CED15C1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A46AE-384C-4230-826F-C5CCB4E9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D3FDF-3A4C-4BDE-A0CD-5CD94622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A96B0-9395-405F-8A0A-2851260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For a newborn with ineffective breathing or poor tone, summon the trained neonatal team immediately and follow role-specific directions.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317EC-8645-4759-81FE-39AD8CE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57FB2-63F6-4AC6-8F05-64DD2D35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117C5-F932-4590-94FF-588FFE2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5C946-9CAB-49B2-83D6-CA849297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Use closed-loop communication when handing off maternal and newborn concerns.</a:t>
            </a:r>
          </a:p>
        </p:txBody>
      </p:sp>
    </p:spTree>
    <p:extLst>
      <p:ext uri="{BB962C8B-B14F-4D97-AF65-F5344CB8AC3E}">
        <p14:creationId xmlns:p14="http://schemas.microsoft.com/office/powerpoint/2010/main" val="190022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873A45-3CDE-4EA0-9E6D-84085A9F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D1B66-FDB5-49FA-B08A-22C18233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B73B7-1ED1-4564-8195-B0ABAD0C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5973A-77BA-4BFA-AB59-EBFE75CA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81513-BF1D-4DDE-BC3C-6A09638A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E3E69-89F5-4848-A079-7DCF7B0A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4B0F9-A087-4D68-9BDE-08D9BD37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810A6-B80A-432A-BB8B-D1E26082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F469C-F385-4A89-B02B-0CA40FF6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51E33-7A6C-4316-A61A-99F591F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3D2C1-DFD2-4B89-B9CE-120578B0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Compare current maternal vital signs, symptoms, pain, bleeding, and behavior with baseline and expected stage.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7C0C9-D434-480B-BAB4-624EABAD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B62E3-E62F-410D-A9BC-F8EA4548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CCBE7-5D7C-4E34-B6E9-8E13A0D6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Observe contraction and fetal-status information only within assigned role and report changes promptly.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B3AA2-151F-4BC6-A659-9F39AE64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A1D48-E802-4547-B695-FA2A6B84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5DC24-BF19-41E9-B5B0-9B27D7B2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After birth, assess uterine and bleeding findings, bladder concerns, comfort, mobility, and bonding per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B2B5A-46DC-4BE4-988D-13EE9CFD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21250-E984-49F6-B2C1-ED9C6483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2E4CB-370B-46DC-91B0-2EAE1BB4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Observe newborn breathing effort, color, tone, temperature, feeding cues, elimination, and identification bands.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A8C28-C25E-4C09-A9E1-AE9AC666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33B3C-E8E1-4907-B02A-94571236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45AC2-1EA1-460B-AA0D-7B563B5F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1006475"/>
          </a:xfrm>
          <a:prstGeom xmlns:a="http://schemas.openxmlformats.org/drawingml/2006/main" prst="roundRect">
            <a:avLst>
              <a:gd name="adj" fmla="val 11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10C3F-1862-4572-82CE-A5F5169D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4782E-9C16-4046-8C40-83E46A93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85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dismiss a pregnant or postpartum patient's statement that something feels seriously wrong.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6B045-0498-4945-B9EF-455EBB2B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9650"/>
            <a:ext cx="5048250" cy="1006475"/>
          </a:xfrm>
          <a:prstGeom xmlns:a="http://schemas.openxmlformats.org/drawingml/2006/main" prst="roundRect">
            <a:avLst>
              <a:gd name="adj" fmla="val 11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1D1D19-0A3D-403B-B956-8D452B9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34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92A1EE-EEE1-4BD6-A8D5-0F2106FD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44900"/>
            <a:ext cx="4324350" cy="85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delay escalation while trying to complete a routine assessment on an unstable parent or newborn.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961A6-6BBB-46B6-85B9-C3304A0A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41850"/>
            <a:ext cx="5048250" cy="1006475"/>
          </a:xfrm>
          <a:prstGeom xmlns:a="http://schemas.openxmlformats.org/drawingml/2006/main" prst="roundRect">
            <a:avLst>
              <a:gd name="adj" fmla="val 11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98520-FD2C-4F4C-8D11-1A453CCC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56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F74EF7-EA2A-4CF0-883D-6DB71ADC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37100"/>
            <a:ext cx="4324350" cy="85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Never use a recalled fetal-monitoring rule or medication dose in place of current policy and a qualified clinician's direction.</a:t>
            </a:r>
          </a:p>
        </p:txBody>
      </p:sp>
    </p:spTree>
    <p:extLst>
      <p:ext uri="{BB962C8B-B14F-4D97-AF65-F5344CB8AC3E}">
        <p14:creationId xmlns:p14="http://schemas.microsoft.com/office/powerpoint/2010/main" val="1187362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66B9F-32AC-433E-ADE0-5ACB69F7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53BA4-89F4-4110-92AA-64CA0315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3D7CF-48C8-4068-AF20-A06E4DBC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11AA8-938A-4157-B0F0-B4C61973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60AF4-9C43-4E3C-BF5D-22A3B1A7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Two patients, one linked story: always reassess both parent and newborn.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5C849-5481-41CF-BB61-807713C6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3EBE1-56C2-48CC-9476-06FC0DE5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53AFB-3714-4BF7-A4CF-2AD7EAC7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BLEED means Be present, Look, Escalate, Explain, Document.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5A0EB-9FFA-421D-BB84-0B41A86B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D14E9-7B60-479F-BEC3-98849FC0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351B5-8B6A-4692-BE8D-718698FC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For newborn transition, remember Warmth, Work of breathing, Color, Tone,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3F05E-206D-48DE-9D3B-4F4ECE00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247478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220F48-0D3A-4655-940C-8D70774B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DF37A-BB8A-40D3-A600-B22AEA28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6B2C2-4C2E-4F49-8474-ED3A608D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2C007-A48C-4A93-AF5C-DEC919E4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A57DA-3E7C-4B7D-A1C9-7E1C7D8F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7DA9F-2BF0-49E9-8BA1-9F0DA67C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8A7C3-00E0-4E22-A321-F9F125AF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7BB58-A4C7-47BF-BAEC-2705086C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One hour after birth, a patient says she feels faint, and the nurse notices the bleeding is increasing.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F26EF-9D4E-4426-94A1-7BCD105B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BB06C-C524-4B27-BC62-CD9D33DE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42452-D6FC-4DE2-BACC-8AD08F99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New dizziness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Increasing bleeding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Recent birth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87DE8-A281-489A-AB29-0A13698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75789-F070-4320-9415-040CF484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DE83A-3E83-4966-AADC-C319172D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Possible acute blood loss or another cause of instability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This is not a routine comfort concern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8D273-AC44-4B25-B3B2-EE53E1A1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B2B28-A854-4A66-9AA3-2A469295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64AD0-5E3B-4FEE-941E-BE4AB0C1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Stay with the patient and call for immediate assistance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Assess airway, breathing, circulation, vital signs, and bleeding within role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Follow the postpartum emergency pathway and document</a:t>
            </a:r>
          </a:p>
        </p:txBody>
      </p:sp>
    </p:spTree>
    <p:extLst>
      <p:ext uri="{BB962C8B-B14F-4D97-AF65-F5344CB8AC3E}">
        <p14:creationId xmlns:p14="http://schemas.microsoft.com/office/powerpoint/2010/main" val="364869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C2A87A-6F97-4BB8-A4B8-220FBFBE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F238D-9A37-4F3C-88D3-9E88260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07238-F77E-4CAD-87F5-8A9EB17A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EE651-C077-4AA5-A65C-4665FD18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89BDA-565C-4628-9E89-5E4AB9F7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647CE-0769-4203-9F3C-0672D8B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97129-D299-4ADD-A783-B176476E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A postpartum patient reports sudden dizziness while bleeding appears to be increasing. What should the practical nurse do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C7618-BFC0-4CC3-8792-57320D4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9F147-0F29-4FD0-A6CB-5EB709C6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9087E-B1B0-4126-BADA-1B0E7645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Stay with the patient and call for immediate help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81615-353F-432D-9E2C-41CC3238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0E5FF-F5E4-436A-BA61-774D3F75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FFC85-3F15-49F6-84DE-75AD2540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Finish documenting the prior assessment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281A9-9551-420D-84CB-906A5375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E9324-C548-41BA-A8C1-06290B05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A6D20-59D7-4205-98B6-5A822A6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Offer routine discharge teaching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DE260-421B-4A71-8AB3-4EFC3C60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32A53-0359-45A0-A5C9-4C02FDD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C5873-67F7-4FB0-A85B-F5BBE616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Recheck at the end of the hour</a:t>
            </a:r>
          </a:p>
        </p:txBody>
      </p:sp>
    </p:spTree>
    <p:extLst>
      <p:ext uri="{BB962C8B-B14F-4D97-AF65-F5344CB8AC3E}">
        <p14:creationId xmlns:p14="http://schemas.microsoft.com/office/powerpoint/2010/main" val="20497031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C37733-7037-4969-84D0-7024AA23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ACE85-DDC4-4D3A-9717-4F2FEE25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5964D-D82F-4ABE-B1B5-A835FA8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B3703-5F1B-4ECD-A35D-2D139ED9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543E9-EDD3-4235-A1C0-129BFDD5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AE611-60B8-4EFA-AF16-287340C7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BCC09-6374-4D3F-BFFA-00E307C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CD37F-5DBF-49B4-8D29-57E4C3F9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New dizziness with increasing bleeding may indicate acute instability. Immediate presence, assessment, and escalation protect circulation and prevent delay.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C6EBD-042C-4D81-95A5-D693F403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F1F32-603E-4E95-87CF-E2422D1F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1413A-8280-468A-AB75-B865DC86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Maternal circulation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A8CBA-E9F5-4B6E-BBC4-6D3D21B3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3E777-7C8F-40CD-B8CD-FF5E6711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8185F-EB32-46D5-8D08-B9F26BDF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New plus increasing suggests an urgent change, so choose protection and escalation.</a:t>
            </a:r>
          </a:p>
        </p:txBody>
      </p:sp>
    </p:spTree>
    <p:extLst>
      <p:ext uri="{BB962C8B-B14F-4D97-AF65-F5344CB8AC3E}">
        <p14:creationId xmlns:p14="http://schemas.microsoft.com/office/powerpoint/2010/main" val="7709587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AC490-C38C-425E-9DD6-D7DF2502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2642F-FBEF-418A-9C3B-78683ECB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B516D-3176-4FF4-B7D4-E091DD9C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0FFEF-FF26-4FD8-9E83-FDC80FB8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E7981-4FDF-4C8C-9EF5-0EF5B4B7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Assess maternal and newborn stability as connected priorities.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E6E08-BD07-42B5-BEBE-D3672847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109347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01C82-0CA3-4EB8-AC6F-A8C2282E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AC130-2633-488F-8439-8813E8A5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10210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Report sudden bleeding, neurologic, breathing, fetal-status, or newborn-transition changes immediately.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6C76B-8AD1-450E-A1E9-814E8D27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347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900CB-885F-45E6-958F-41898DCF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F63D5-78CF-4264-A198-655260A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10210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supportive care, objective documentation, and facility pathways within scope.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873B0-D5DF-496C-AB3F-F9B4A40A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278BF-1378-4F85-8B19-C1DE4E5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National Council of State Boards of Nursing: 2026 NCLEX-PN Test Plan | MedlinePlus, U.S. National Library of Medicine: Vital signs | Agency for Healthcare Research and Quality: TeamSTEPPS Tools</a:t>
            </a:r>
          </a:p>
        </p:txBody>
      </p:sp>
    </p:spTree>
    <p:extLst>
      <p:ext uri="{BB962C8B-B14F-4D97-AF65-F5344CB8AC3E}">
        <p14:creationId xmlns:p14="http://schemas.microsoft.com/office/powerpoint/2010/main" val="1231380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2026-07-13T19:10:53.1110000Z</dcterms:created>
  <dcterms:modified xsi:type="dcterms:W3CDTF">2026-07-13T19:10:53.1110000Z</dcterms:modified>
</coreProperties>
</file>